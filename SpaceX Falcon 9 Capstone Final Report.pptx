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JetBrains Mono" panose="02000009000000000000" pitchFamily="49" charset="0"/>
      <p:regular r:id="rId18"/>
      <p:bold r:id="rId19"/>
      <p:italic r:id="rId20"/>
      <p:boldItalic r:id="rId21"/>
    </p:embeddedFont>
    <p:embeddedFont>
      <p:font typeface="Urbanist" panose="020B0A04040200000203" pitchFamily="34" charset="77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C637E1F-37FC-4573-B5CE-68ECAD2D92A2}">
  <a:tblStyle styleId="{4C637E1F-37FC-4573-B5CE-68ECAD2D92A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6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5276" y="1603176"/>
            <a:ext cx="1158144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IBM DATA SCIENCE PROFESSIONAL CERTIFICATE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98169" y="2012751"/>
            <a:ext cx="11281410" cy="134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FALCON 9 LANDING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PREDICTION CAPSTONE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81025" y="2012751"/>
            <a:ext cx="76200" cy="1340941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81025" y="3734692"/>
            <a:ext cx="110299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Comprehensive Data Science Report &amp; Final Deliverables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81025" y="4854773"/>
            <a:ext cx="11029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Prepared by: SAGHIR Haitham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Submission Date: May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182266"/>
            <a:ext cx="5419725" cy="3465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2182266"/>
            <a:ext cx="5419725" cy="3465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6800" y="4428083"/>
            <a:ext cx="444817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7025" y="4428083"/>
            <a:ext cx="444817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014662" y="2668041"/>
            <a:ext cx="55245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955595" y="3430041"/>
            <a:ext cx="467058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GITHUB REPOSITORY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66800" y="3811041"/>
            <a:ext cx="444817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Complete source code, including all Jupyter Notebooks (.ipynb) and Python scripts (.py) for the data pipeline.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15362" y="2668041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6565820" y="3430041"/>
            <a:ext cx="467058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PDF PRESENTATION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677025" y="3811041"/>
            <a:ext cx="444817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Final exported slide deck covering all methodology, insights, and predictive results for executive review.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FINAL PROJECT DELIVERABLES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81025" y="116205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05025"/>
            <a:ext cx="52768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81025" y="2638425"/>
            <a:ext cx="52768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Objective: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Predict the successful landing of Falcon 9's first stage to determine launch costs and competitive advantages.</a:t>
            </a:r>
            <a:endParaRPr/>
          </a:p>
        </p:txBody>
      </p:sp>
      <p:pic>
        <p:nvPicPr>
          <p:cNvPr id="114" name="Google Shape;11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114550"/>
            <a:ext cx="52578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923925" y="3362325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962025" y="3362325"/>
            <a:ext cx="48958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 Pipeline: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Integrated API extraction, Wikipedia scraping, and SQL-based EDA.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23925" y="3895725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62025" y="3895725"/>
            <a:ext cx="48958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Key Findings: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Success rates have improved by &gt;300% since 2013, with KSC LC-39A as the top-performing site.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23925" y="4429125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62025" y="4429125"/>
            <a:ext cx="489585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Model Selection: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Decision Tree classifier achieved </a:t>
            </a:r>
            <a:r>
              <a:rPr lang="en-US" sz="1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83.3% accuracy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, demonstrating high reliability for mission outcome prediction.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EXECUTIVE SUMMARY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581025" y="116205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105025"/>
            <a:ext cx="52768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" y="2114550"/>
            <a:ext cx="52578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6334125" y="2719387"/>
            <a:ext cx="554069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THE COST OF SPACE TRAVEL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334125" y="3128962"/>
            <a:ext cx="527685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SpaceX advertises Falcon 9 launches at </a:t>
            </a:r>
            <a:r>
              <a:rPr lang="en-US" sz="1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$62M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, significantly lower than competitors (~$165M). This is possible through first-stage reusability.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334125" y="4119562"/>
            <a:ext cx="527685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Determining the probability of a successful landing is crucial for calculating the actual cost of a launch and outbidding competition.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INTRODUCTION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81025" y="116205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973883"/>
            <a:ext cx="3549550" cy="1881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21075" y="2973883"/>
            <a:ext cx="3549699" cy="1881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1275" y="2973883"/>
            <a:ext cx="3549550" cy="188178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828675" y="3221533"/>
            <a:ext cx="320696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SPACEX REST API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828675" y="3602533"/>
            <a:ext cx="3054250" cy="85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Extracted real-time structured data for Falcon 9 launches using the /launches endpoint and normalized nested JSON into flat DataFrames.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4568725" y="3221533"/>
            <a:ext cx="320711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WEB SCRAPING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4568725" y="3602533"/>
            <a:ext cx="3054399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Utilized </a:t>
            </a:r>
            <a:r>
              <a:rPr lang="en-US" sz="12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BeautifulSoup</a:t>
            </a: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to parse Wikipedia tables, capturing historical mission data not available through the standard API.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8308925" y="3221533"/>
            <a:ext cx="320696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DATA WRANGLING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8308925" y="3602533"/>
            <a:ext cx="3054250" cy="85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Cleaned null values (imputed payload mass), filtered out Falcon 1 records, and converted landing outcomes into binary success/failure classes.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METHODOLOGY: COLLECTION &amp; WRANGLING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81025" y="116205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581025" y="1057275"/>
            <a:ext cx="5190648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EDA &amp; INTERACTIVE ANALYTICS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581025" y="2314575"/>
            <a:ext cx="519064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ANALYTICAL TOOLKIT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581025" y="2724150"/>
            <a:ext cx="49434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SQL Analysis: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Leveraged sqlite3 to perform complex queries on booster reliability and payload trends.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581025" y="3648075"/>
            <a:ext cx="4943475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Interactive Visualization: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Used </a:t>
            </a:r>
            <a:r>
              <a:rPr lang="en-US" sz="1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Folium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for geospatial site proximity and </a:t>
            </a:r>
            <a:r>
              <a:rPr lang="en-US" sz="1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Plotly Dash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for real-time dashboard analytics.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581025" y="4829175"/>
            <a:ext cx="4943475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Statistical Charts: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Matplotlib and Seaborn were used to identify correlations between payload, flight number, and orbit type.</a:t>
            </a:r>
            <a:endParaRPr/>
          </a:p>
        </p:txBody>
      </p:sp>
      <p:pic>
        <p:nvPicPr>
          <p:cNvPr id="161" name="Google Shape;16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05025"/>
            <a:ext cx="52768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581025" y="2352675"/>
            <a:ext cx="554069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CLASSIFICATION PIPELINE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581025" y="2762250"/>
            <a:ext cx="52768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predictive phase involved feature standardization followed by the evaluation of four key algorithms: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581025" y="4743450"/>
            <a:ext cx="52768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Tuning: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Utilized GridSearchCV for hyperparameter optimization across all models.</a:t>
            </a:r>
            <a:endParaRPr/>
          </a:p>
        </p:txBody>
      </p:sp>
      <p:pic>
        <p:nvPicPr>
          <p:cNvPr id="171" name="Google Shape;17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114550"/>
            <a:ext cx="52578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923925" y="3486150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962025" y="3486150"/>
            <a:ext cx="48958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Logistic Regression: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Baseline classifier.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923925" y="3752850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962025" y="3752850"/>
            <a:ext cx="48958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SVM: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High-dimensional boundary optimization.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923925" y="4019550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962025" y="4019550"/>
            <a:ext cx="48958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Decision Tree: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Rule-based interpretability.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923925" y="4286250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962025" y="4286250"/>
            <a:ext cx="48958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K-Nearest Neighbors: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Instance-based learning.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METHODOLOGY: PREDICTIVE ANALYSIS</a:t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581025" y="116205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771650"/>
            <a:ext cx="52768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" y="1781175"/>
            <a:ext cx="52578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6334125" y="2624137"/>
            <a:ext cx="554069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KEY OBSERVATIONS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6334125" y="3033712"/>
            <a:ext cx="52768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1. Payload vs Launch Site: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KSC LC-39A shows high success rates for heavy payloads (&gt;10,000 kg).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6334125" y="3757612"/>
            <a:ext cx="52768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2. Success vs Orbit: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SSO, HEO, and GEO orbits show 100% success rates, while GTO is highly variable.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6334125" y="4481512"/>
            <a:ext cx="52768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3. Yearly Trend: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Success rates have stabilized above 80% since the introduction of Block 5 boosters in 2018.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EDA RESULTS: VISUAL INSIGHTS</a:t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581025" y="116205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188815"/>
            <a:ext cx="5419725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493740"/>
            <a:ext cx="5419725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0" y="2188815"/>
            <a:ext cx="5419725" cy="135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91250" y="3684240"/>
            <a:ext cx="5419725" cy="1352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581025" y="5274915"/>
            <a:ext cx="110299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SQL queries enabled the extraction of precise business metrics and mission records from the landing dataset.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781050" y="2388840"/>
            <a:ext cx="25717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 Task 3: NASA CRS Payload --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781050" y="2960340"/>
            <a:ext cx="14573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Result: 45,596 kg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781050" y="3693765"/>
            <a:ext cx="38576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 Task 5: First Successful Ground Landing --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781050" y="4265265"/>
            <a:ext cx="15430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Result: 2015-12-22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6391275" y="2388840"/>
            <a:ext cx="35147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 Task 6: Boosters with Payload 4k-6k --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6391275" y="3150840"/>
            <a:ext cx="26574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Result: F9 v1.1 B1022, B1026...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6391275" y="3884265"/>
            <a:ext cx="32575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 Task 8: Maximum Payload Boosters --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6391275" y="4646265"/>
            <a:ext cx="28289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Result: F9 B5 B1048.4, B1049.4...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EDA RESULTS: SQL STRUCTURED INSIGHTS</a:t>
            </a:r>
            <a:endParaRPr/>
          </a:p>
        </p:txBody>
      </p:sp>
      <p:sp>
        <p:nvSpPr>
          <p:cNvPr id="214" name="Google Shape;214;p21"/>
          <p:cNvSpPr/>
          <p:nvPr/>
        </p:nvSpPr>
        <p:spPr>
          <a:xfrm>
            <a:off x="581025" y="116205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05025"/>
            <a:ext cx="52768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581025" y="2471737"/>
            <a:ext cx="554069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GEOSPATIAL SAFETY &amp; LOGISTICS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581025" y="2881312"/>
            <a:ext cx="52768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We mapped launch sites (CCAFS, KSC, VAFB) to analyze their distance to critical features:</a:t>
            </a:r>
            <a:endParaRPr/>
          </a:p>
        </p:txBody>
      </p:sp>
      <p:pic>
        <p:nvPicPr>
          <p:cNvPr id="223" name="Google Shape;22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114550"/>
            <a:ext cx="52578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 txBox="1"/>
          <p:nvPr/>
        </p:nvSpPr>
        <p:spPr>
          <a:xfrm>
            <a:off x="923925" y="3605212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962025" y="3605212"/>
            <a:ext cx="48958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Coastline: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Sites are intentionally located near the ocean (~1 km) for debris safety and drone ship landing paths.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923925" y="4138612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962025" y="4138612"/>
            <a:ext cx="48958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Infrastructure: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Sites are clustered near railways and highways to facilitate large-scale component transport.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923925" y="4672012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962025" y="4672012"/>
            <a:ext cx="48958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Cities: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Significant distance (~20+ km) is maintained from major urban centers.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INTERACTIVE ANALYSIS: FOLIUM PROXIMITY</a:t>
            </a:r>
            <a:endParaRPr/>
          </a:p>
        </p:txBody>
      </p:sp>
      <p:sp>
        <p:nvSpPr>
          <p:cNvPr id="231" name="Google Shape;231;p22"/>
          <p:cNvSpPr/>
          <p:nvPr/>
        </p:nvSpPr>
        <p:spPr>
          <a:xfrm>
            <a:off x="581025" y="116205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69815"/>
            <a:ext cx="3613100" cy="2689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4625" y="2569815"/>
            <a:ext cx="7226349" cy="268977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 txBox="1"/>
          <p:nvPr/>
        </p:nvSpPr>
        <p:spPr>
          <a:xfrm>
            <a:off x="828675" y="2817465"/>
            <a:ext cx="327369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DASHBOARD FEATURES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828675" y="3198465"/>
            <a:ext cx="311780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1. Dropdown Filter: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Toggle between all sites or specific launch pads.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828675" y="3777406"/>
            <a:ext cx="311780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2. Payload Slider: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Filter success rates by specific payload ranges (0-10,000 kg).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828675" y="4356348"/>
            <a:ext cx="311780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3. Dynamic Pie: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Instant visualization of Success vs. Failure ratio.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4632275" y="2969865"/>
            <a:ext cx="6731049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Success Rate Insight by Site</a:t>
            </a:r>
            <a:endParaRPr/>
          </a:p>
        </p:txBody>
      </p:sp>
      <p:graphicFrame>
        <p:nvGraphicFramePr>
          <p:cNvPr id="244" name="Google Shape;244;p23"/>
          <p:cNvGraphicFramePr/>
          <p:nvPr>
            <p:extLst>
              <p:ext uri="{D42A27DB-BD31-4B8C-83A1-F6EECF244321}">
                <p14:modId xmlns:p14="http://schemas.microsoft.com/office/powerpoint/2010/main" val="3721910316"/>
              </p:ext>
            </p:extLst>
          </p:nvPr>
        </p:nvGraphicFramePr>
        <p:xfrm>
          <a:off x="4632275" y="3326010"/>
          <a:ext cx="6731050" cy="1685900"/>
        </p:xfrm>
        <a:graphic>
          <a:graphicData uri="http://schemas.openxmlformats.org/drawingml/2006/table">
            <a:tbl>
              <a:tblPr firstRow="1" bandRow="1">
                <a:noFill/>
                <a:tableStyleId>{4C637E1F-37FC-4573-B5CE-68ECAD2D92A2}</a:tableStyleId>
              </a:tblPr>
              <a:tblGrid>
                <a:gridCol w="237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B82F6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Site 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B82F6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Success Rate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B82F6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Primary Orbit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KSC LC-39A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76.9%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ISS / GTO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CCAFS SLC-40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42.9%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LEO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VAFB SLC-4E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40.0%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Polar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5" name="Google Shape;245;p23"/>
          <p:cNvSpPr/>
          <p:nvPr/>
        </p:nvSpPr>
        <p:spPr>
          <a:xfrm>
            <a:off x="4632275" y="3726060"/>
            <a:ext cx="2374552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7006828" y="3726060"/>
            <a:ext cx="214238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9149208" y="3726060"/>
            <a:ext cx="2214116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4632275" y="4159448"/>
            <a:ext cx="237455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7006828" y="4159448"/>
            <a:ext cx="21423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9149208" y="4159448"/>
            <a:ext cx="221411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4632275" y="4578548"/>
            <a:ext cx="237455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7006828" y="4578548"/>
            <a:ext cx="21423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9149208" y="4578548"/>
            <a:ext cx="221411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4632275" y="4997648"/>
            <a:ext cx="237455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7006828" y="4997648"/>
            <a:ext cx="21423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9149208" y="4997648"/>
            <a:ext cx="221411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INTERACTIVE ANALYTICS: PLOTLY DASH</a:t>
            </a:r>
            <a:endParaRPr/>
          </a:p>
        </p:txBody>
      </p:sp>
      <p:sp>
        <p:nvSpPr>
          <p:cNvPr id="258" name="Google Shape;258;p23"/>
          <p:cNvSpPr/>
          <p:nvPr/>
        </p:nvSpPr>
        <p:spPr>
          <a:xfrm>
            <a:off x="581025" y="116205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700337"/>
            <a:ext cx="2614612" cy="113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86137" y="2700337"/>
            <a:ext cx="2614612" cy="113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2700337"/>
            <a:ext cx="2614612" cy="113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96362" y="2700337"/>
            <a:ext cx="2614612" cy="113347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4"/>
          <p:cNvSpPr txBox="1"/>
          <p:nvPr/>
        </p:nvSpPr>
        <p:spPr>
          <a:xfrm>
            <a:off x="581025" y="4405312"/>
            <a:ext cx="110299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Outcome: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All models converged on an 83.3% test accuracy. The </a:t>
            </a:r>
            <a:r>
              <a:rPr lang="en-US" sz="1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Decision Tree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is selected as the optimal model for its balance of accuracy and ability to interpret specific features like Payload Mass and Flight Number impact.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790575" y="2909887"/>
            <a:ext cx="219551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83.3%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790575" y="3462337"/>
            <a:ext cx="219551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LOG REGRESSION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3595687" y="2909887"/>
            <a:ext cx="219551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83.3%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3595687" y="3462337"/>
            <a:ext cx="219551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SVM ACCURACY</a:t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6400800" y="2909887"/>
            <a:ext cx="219551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83.3%</a:t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6400800" y="3462337"/>
            <a:ext cx="219551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DECISION TREE</a:t>
            </a:r>
            <a:endParaRPr/>
          </a:p>
        </p:txBody>
      </p:sp>
      <p:sp>
        <p:nvSpPr>
          <p:cNvPr id="275" name="Google Shape;275;p24"/>
          <p:cNvSpPr txBox="1"/>
          <p:nvPr/>
        </p:nvSpPr>
        <p:spPr>
          <a:xfrm>
            <a:off x="9205912" y="2909887"/>
            <a:ext cx="219551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83.3%</a:t>
            </a:r>
            <a:endParaRPr/>
          </a:p>
        </p:txBody>
      </p:sp>
      <p:sp>
        <p:nvSpPr>
          <p:cNvPr id="276" name="Google Shape;276;p24"/>
          <p:cNvSpPr txBox="1"/>
          <p:nvPr/>
        </p:nvSpPr>
        <p:spPr>
          <a:xfrm>
            <a:off x="9205912" y="3462337"/>
            <a:ext cx="219551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KNN ACCURACY</a:t>
            </a:r>
            <a:endParaRPr/>
          </a:p>
        </p:txBody>
      </p:sp>
      <p:sp>
        <p:nvSpPr>
          <p:cNvPr id="277" name="Google Shape;277;p24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PREDICTIVE ANALYSIS: RESULTS</a:t>
            </a:r>
            <a:endParaRPr/>
          </a:p>
        </p:txBody>
      </p:sp>
      <p:sp>
        <p:nvSpPr>
          <p:cNvPr id="278" name="Google Shape;278;p24"/>
          <p:cNvSpPr/>
          <p:nvPr/>
        </p:nvSpPr>
        <p:spPr>
          <a:xfrm>
            <a:off x="581025" y="116205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05025"/>
            <a:ext cx="52768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894832"/>
            <a:ext cx="5276850" cy="1439912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5"/>
          <p:cNvSpPr txBox="1"/>
          <p:nvPr/>
        </p:nvSpPr>
        <p:spPr>
          <a:xfrm>
            <a:off x="581025" y="2494657"/>
            <a:ext cx="554069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FINAL VERDICT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581025" y="2904232"/>
            <a:ext cx="527685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SpaceX's strategy of incremental improvement is evident in the data. Landing success is no longer a "lucky" event but a predictable engineering outcome.</a:t>
            </a:r>
            <a:endParaRPr/>
          </a:p>
        </p:txBody>
      </p:sp>
      <p:pic>
        <p:nvPicPr>
          <p:cNvPr id="288" name="Google Shape;288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43650" y="2114550"/>
            <a:ext cx="52578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5"/>
          <p:cNvSpPr txBox="1"/>
          <p:nvPr/>
        </p:nvSpPr>
        <p:spPr>
          <a:xfrm>
            <a:off x="866775" y="4294882"/>
            <a:ext cx="4743450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Innovative Insight: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Payload mass between 2,000-4,000 kg shows the highest success stability, suggesting that lighter missions are safer for landing testing than maximum-capacity missions.</a:t>
            </a:r>
            <a:endParaRPr/>
          </a:p>
        </p:txBody>
      </p:sp>
      <p:sp>
        <p:nvSpPr>
          <p:cNvPr id="290" name="Google Shape;290;p25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CONCLUSION &amp; INNOVATIVE INSIGHTS</a:t>
            </a:r>
            <a:endParaRPr/>
          </a:p>
        </p:txBody>
      </p:sp>
      <p:sp>
        <p:nvSpPr>
          <p:cNvPr id="291" name="Google Shape;291;p25"/>
          <p:cNvSpPr/>
          <p:nvPr/>
        </p:nvSpPr>
        <p:spPr>
          <a:xfrm>
            <a:off x="581025" y="116205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791842"/>
            <a:ext cx="11029950" cy="140389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6"/>
          <p:cNvSpPr txBox="1"/>
          <p:nvPr/>
        </p:nvSpPr>
        <p:spPr>
          <a:xfrm>
            <a:off x="305276" y="1662112"/>
            <a:ext cx="11581447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299" name="Google Shape;299;p26"/>
          <p:cNvSpPr txBox="1"/>
          <p:nvPr/>
        </p:nvSpPr>
        <p:spPr>
          <a:xfrm>
            <a:off x="581025" y="2767012"/>
            <a:ext cx="110299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Thank you for your attention.</a:t>
            </a:r>
            <a:endParaRPr/>
          </a:p>
        </p:txBody>
      </p:sp>
      <p:sp>
        <p:nvSpPr>
          <p:cNvPr id="300" name="Google Shape;300;p26"/>
          <p:cNvSpPr txBox="1"/>
          <p:nvPr/>
        </p:nvSpPr>
        <p:spPr>
          <a:xfrm>
            <a:off x="771525" y="4182367"/>
            <a:ext cx="106489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Final Submission - Data Science Capstone Project</a:t>
            </a:r>
            <a:endParaRPr/>
          </a:p>
        </p:txBody>
      </p:sp>
      <p:sp>
        <p:nvSpPr>
          <p:cNvPr id="301" name="Google Shape;301;p26"/>
          <p:cNvSpPr txBox="1"/>
          <p:nvPr/>
        </p:nvSpPr>
        <p:spPr>
          <a:xfrm>
            <a:off x="771525" y="4639567"/>
            <a:ext cx="106489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Contact: candidate@datascience.edu | github.com/username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7"/>
          <p:cNvSpPr/>
          <p:nvPr/>
        </p:nvSpPr>
        <p:spPr>
          <a:xfrm>
            <a:off x="581025" y="1552575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7"/>
          <p:cNvSpPr/>
          <p:nvPr/>
        </p:nvSpPr>
        <p:spPr>
          <a:xfrm>
            <a:off x="581025" y="2324100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7"/>
          <p:cNvSpPr/>
          <p:nvPr/>
        </p:nvSpPr>
        <p:spPr>
          <a:xfrm>
            <a:off x="581025" y="3095625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7"/>
          <p:cNvSpPr/>
          <p:nvPr/>
        </p:nvSpPr>
        <p:spPr>
          <a:xfrm>
            <a:off x="581025" y="3867150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7"/>
          <p:cNvSpPr/>
          <p:nvPr/>
        </p:nvSpPr>
        <p:spPr>
          <a:xfrm>
            <a:off x="581025" y="4638675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7"/>
          <p:cNvSpPr/>
          <p:nvPr/>
        </p:nvSpPr>
        <p:spPr>
          <a:xfrm>
            <a:off x="581025" y="231457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7"/>
          <p:cNvSpPr/>
          <p:nvPr/>
        </p:nvSpPr>
        <p:spPr>
          <a:xfrm>
            <a:off x="581025" y="231457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7"/>
          <p:cNvSpPr/>
          <p:nvPr/>
        </p:nvSpPr>
        <p:spPr>
          <a:xfrm>
            <a:off x="581025" y="308610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7"/>
          <p:cNvSpPr/>
          <p:nvPr/>
        </p:nvSpPr>
        <p:spPr>
          <a:xfrm>
            <a:off x="581025" y="308610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7"/>
          <p:cNvSpPr/>
          <p:nvPr/>
        </p:nvSpPr>
        <p:spPr>
          <a:xfrm>
            <a:off x="581025" y="385762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7"/>
          <p:cNvSpPr/>
          <p:nvPr/>
        </p:nvSpPr>
        <p:spPr>
          <a:xfrm>
            <a:off x="581025" y="385762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7"/>
          <p:cNvSpPr/>
          <p:nvPr/>
        </p:nvSpPr>
        <p:spPr>
          <a:xfrm>
            <a:off x="581025" y="462915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7"/>
          <p:cNvSpPr/>
          <p:nvPr/>
        </p:nvSpPr>
        <p:spPr>
          <a:xfrm>
            <a:off x="581025" y="462915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7"/>
          <p:cNvSpPr/>
          <p:nvPr/>
        </p:nvSpPr>
        <p:spPr>
          <a:xfrm>
            <a:off x="581025" y="540067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7"/>
          <p:cNvSpPr/>
          <p:nvPr/>
        </p:nvSpPr>
        <p:spPr>
          <a:xfrm>
            <a:off x="581025" y="540067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2" name="Google Shape;322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6954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7"/>
          <p:cNvSpPr txBox="1"/>
          <p:nvPr/>
        </p:nvSpPr>
        <p:spPr>
          <a:xfrm>
            <a:off x="1676400" y="1716434"/>
            <a:ext cx="993457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https://i.ytimg.com/vi/TthLhqq4JUs/maxresdefault.jpg</a:t>
            </a:r>
            <a:endParaRPr/>
          </a:p>
        </p:txBody>
      </p:sp>
      <p:sp>
        <p:nvSpPr>
          <p:cNvPr id="324" name="Google Shape;324;p27"/>
          <p:cNvSpPr txBox="1"/>
          <p:nvPr/>
        </p:nvSpPr>
        <p:spPr>
          <a:xfrm>
            <a:off x="1676400" y="1937295"/>
            <a:ext cx="99345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www.youtube.com</a:t>
            </a:r>
            <a:endParaRPr/>
          </a:p>
        </p:txBody>
      </p:sp>
      <p:pic>
        <p:nvPicPr>
          <p:cNvPr id="325" name="Google Shape;325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4669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7"/>
          <p:cNvSpPr txBox="1"/>
          <p:nvPr/>
        </p:nvSpPr>
        <p:spPr>
          <a:xfrm>
            <a:off x="1676400" y="2487959"/>
            <a:ext cx="993457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https://media.defense.gov/2020/Jun/29/2002333926/1200/1200/0/200628-F-ZZ999-103.JPG</a:t>
            </a:r>
            <a:endParaRPr/>
          </a:p>
        </p:txBody>
      </p:sp>
      <p:sp>
        <p:nvSpPr>
          <p:cNvPr id="327" name="Google Shape;327;p27"/>
          <p:cNvSpPr txBox="1"/>
          <p:nvPr/>
        </p:nvSpPr>
        <p:spPr>
          <a:xfrm>
            <a:off x="1676400" y="2708820"/>
            <a:ext cx="99345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www.losangeles.spaceforce.mil</a:t>
            </a:r>
            <a:endParaRPr/>
          </a:p>
        </p:txBody>
      </p:sp>
      <p:pic>
        <p:nvPicPr>
          <p:cNvPr id="328" name="Google Shape;328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2385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7"/>
          <p:cNvSpPr txBox="1"/>
          <p:nvPr/>
        </p:nvSpPr>
        <p:spPr>
          <a:xfrm>
            <a:off x="1676400" y="3259484"/>
            <a:ext cx="993457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https://miro.medium.com/1*yVXW3w8fTjc6O8oFxstakA.gif</a:t>
            </a:r>
            <a:endParaRPr/>
          </a:p>
        </p:txBody>
      </p:sp>
      <p:sp>
        <p:nvSpPr>
          <p:cNvPr id="330" name="Google Shape;330;p27"/>
          <p:cNvSpPr txBox="1"/>
          <p:nvPr/>
        </p:nvSpPr>
        <p:spPr>
          <a:xfrm>
            <a:off x="1676400" y="3480345"/>
            <a:ext cx="99345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blog.prototypr.io</a:t>
            </a:r>
            <a:endParaRPr/>
          </a:p>
        </p:txBody>
      </p:sp>
      <p:pic>
        <p:nvPicPr>
          <p:cNvPr id="331" name="Google Shape;331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0100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7"/>
          <p:cNvSpPr txBox="1"/>
          <p:nvPr/>
        </p:nvSpPr>
        <p:spPr>
          <a:xfrm>
            <a:off x="1676400" y="4031009"/>
            <a:ext cx="993457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http://www.mygreatlearning.com/blog/wp-content/uploads/2020/03/performance-confusuon-matrix-1024x568.webp</a:t>
            </a:r>
            <a:endParaRPr/>
          </a:p>
        </p:txBody>
      </p:sp>
      <p:sp>
        <p:nvSpPr>
          <p:cNvPr id="333" name="Google Shape;333;p27"/>
          <p:cNvSpPr txBox="1"/>
          <p:nvPr/>
        </p:nvSpPr>
        <p:spPr>
          <a:xfrm>
            <a:off x="1676400" y="4251870"/>
            <a:ext cx="99345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www.mygreatlearning.com</a:t>
            </a:r>
            <a:endParaRPr/>
          </a:p>
        </p:txBody>
      </p:sp>
      <p:pic>
        <p:nvPicPr>
          <p:cNvPr id="334" name="Google Shape;334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47815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7"/>
          <p:cNvSpPr txBox="1"/>
          <p:nvPr/>
        </p:nvSpPr>
        <p:spPr>
          <a:xfrm>
            <a:off x="1676400" y="4802534"/>
            <a:ext cx="993457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https://d13ot9o61jdzpp.cloudfront.net/images/dark_theme_db.gif</a:t>
            </a:r>
            <a:endParaRPr/>
          </a:p>
        </p:txBody>
      </p:sp>
      <p:sp>
        <p:nvSpPr>
          <p:cNvPr id="336" name="Google Shape;336;p27"/>
          <p:cNvSpPr txBox="1"/>
          <p:nvPr/>
        </p:nvSpPr>
        <p:spPr>
          <a:xfrm>
            <a:off x="1676400" y="5023395"/>
            <a:ext cx="99345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www.myonlinetraininghub.com</a:t>
            </a:r>
            <a:endParaRPr/>
          </a:p>
        </p:txBody>
      </p:sp>
      <p:pic>
        <p:nvPicPr>
          <p:cNvPr id="337" name="Google Shape;337;p2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1025" y="561855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7"/>
          <p:cNvSpPr txBox="1"/>
          <p:nvPr/>
        </p:nvSpPr>
        <p:spPr>
          <a:xfrm>
            <a:off x="1676400" y="5553075"/>
            <a:ext cx="9934575" cy="34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https://cdn-imgix.headout.com/media/images/2402f0f7f2f424f93ef90d1c1421c8fd-LE%2039A.jpg?auto=compress%2Cformat&amp;w=1222.3999999999999&amp;h=687.6&amp;q=90&amp;ar=16%3A9&amp;crop=faces&amp;fit=crop</a:t>
            </a:r>
            <a:endParaRPr/>
          </a:p>
        </p:txBody>
      </p:sp>
      <p:sp>
        <p:nvSpPr>
          <p:cNvPr id="339" name="Google Shape;339;p27"/>
          <p:cNvSpPr txBox="1"/>
          <p:nvPr/>
        </p:nvSpPr>
        <p:spPr>
          <a:xfrm>
            <a:off x="1676400" y="5947171"/>
            <a:ext cx="99345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www.kennedyspacecenter-tickets.com</a:t>
            </a:r>
            <a:endParaRPr/>
          </a:p>
        </p:txBody>
      </p:sp>
      <p:sp>
        <p:nvSpPr>
          <p:cNvPr id="340" name="Google Shape;340;p27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341" name="Google Shape;341;p27"/>
          <p:cNvSpPr/>
          <p:nvPr/>
        </p:nvSpPr>
        <p:spPr>
          <a:xfrm>
            <a:off x="581025" y="116205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1038</Words>
  <Application>Microsoft Macintosh PowerPoint</Application>
  <PresentationFormat>Widescreen</PresentationFormat>
  <Paragraphs>118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Urbanist</vt:lpstr>
      <vt:lpstr>JetBrains Mono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Saghir, Haitham</cp:lastModifiedBy>
  <cp:revision>1</cp:revision>
  <dcterms:modified xsi:type="dcterms:W3CDTF">2026-05-07T08:14:49Z</dcterms:modified>
</cp:coreProperties>
</file>