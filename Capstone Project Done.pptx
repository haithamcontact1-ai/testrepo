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56" r:id="rId5"/>
    <p:sldId id="257" r:id="rId6"/>
    <p:sldId id="258" r:id="rId7"/>
    <p:sldId id="259" r:id="rId8"/>
    <p:sldId id="260" r:id="rId9"/>
    <p:sldId id="261" r:id="rId10"/>
    <p:sldId id="278" r:id="rId11"/>
    <p:sldId id="279" r:id="rId12"/>
    <p:sldId id="280" r:id="rId13"/>
    <p:sldId id="281" r:id="rId14"/>
    <p:sldId id="264" r:id="rId15"/>
    <p:sldId id="282" r:id="rId16"/>
    <p:sldId id="266" r:id="rId17"/>
    <p:sldId id="267" r:id="rId18"/>
    <p:sldId id="268" r:id="rId19"/>
    <p:sldId id="269" r:id="rId20"/>
    <p:sldId id="270" r:id="rId21"/>
    <p:sldId id="271" r:id="rId22"/>
    <p:sldId id="272" r:id="rId23"/>
  </p:sldIdLst>
  <p:sldSz cx="12192000" cy="6858000"/>
  <p:notesSz cx="6858000" cy="1857375"/>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1FF"/>
    <a:srgbClr val="0072C3"/>
    <a:srgbClr val="007D79"/>
    <a:srgbClr val="D02670"/>
    <a:srgbClr val="231F20"/>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587" autoAdjust="0"/>
    <p:restoredTop sz="88436" autoAdjust="0"/>
  </p:normalViewPr>
  <p:slideViewPr>
    <p:cSldViewPr snapToGrid="0">
      <p:cViewPr>
        <p:scale>
          <a:sx n="126" d="100"/>
          <a:sy n="126" d="100"/>
        </p:scale>
        <p:origin x="272" y="472"/>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b="1" dirty="0">
                <a:latin typeface="IBM Plex Mono" panose="020B0509050203000203" pitchFamily="49" charset="77"/>
              </a:rPr>
              <a:t>Results: Visual Insights</a:t>
            </a:r>
          </a:p>
          <a:p>
            <a:r>
              <a:rPr lang="en-NL" dirty="0">
                <a:latin typeface="IBM Plex Mono" panose="020B0509050203000203" pitchFamily="49" charset="77"/>
              </a:rPr>
              <a:t>This section summarizes the data processed through our analysis pipeline, focusing on market demand an compensartion.</a:t>
            </a:r>
          </a:p>
          <a:p>
            <a:pPr marL="285750" indent="-285750">
              <a:buFont typeface="Arial" panose="020B0604020202020204" pitchFamily="34" charset="0"/>
              <a:buChar char="•"/>
            </a:pPr>
            <a:r>
              <a:rPr lang="en-NL" b="1" dirty="0">
                <a:latin typeface="IBM Plex Mono" panose="020B0509050203000203" pitchFamily="49" charset="77"/>
              </a:rPr>
              <a:t>Visualization – Charts:</a:t>
            </a:r>
          </a:p>
          <a:p>
            <a:pPr marL="742950" lvl="1" indent="-285750">
              <a:buFont typeface="Arial" panose="020B0604020202020204" pitchFamily="34" charset="0"/>
              <a:buChar char="•"/>
            </a:pPr>
            <a:r>
              <a:rPr lang="en-NL" b="1" dirty="0">
                <a:latin typeface="IBM Plex Mono" panose="020B0509050203000203" pitchFamily="49" charset="77"/>
              </a:rPr>
              <a:t>Job posting by Location: </a:t>
            </a:r>
            <a:r>
              <a:rPr lang="en-NL" dirty="0">
                <a:latin typeface="IBM Plex Mono" panose="020B0509050203000203" pitchFamily="49" charset="77"/>
              </a:rPr>
              <a:t>Bar charts showing demand distribution, sorted descendingly.</a:t>
            </a:r>
          </a:p>
          <a:p>
            <a:pPr marL="742950" lvl="1" indent="-285750">
              <a:buFont typeface="Arial" panose="020B0604020202020204" pitchFamily="34" charset="0"/>
              <a:buChar char="•"/>
            </a:pPr>
            <a:r>
              <a:rPr lang="en-NL" b="1" dirty="0">
                <a:latin typeface="IBM Plex Mono" panose="020B0509050203000203" pitchFamily="49" charset="77"/>
              </a:rPr>
              <a:t>Salary Comparison: </a:t>
            </a:r>
            <a:r>
              <a:rPr lang="en-NL" dirty="0">
                <a:latin typeface="IBM Plex Mono" panose="020B0509050203000203" pitchFamily="49" charset="77"/>
              </a:rPr>
              <a:t>Ranking of programming languages based on average annual earnings.</a:t>
            </a:r>
          </a:p>
          <a:p>
            <a:pPr marL="742950" lvl="1" indent="-285750">
              <a:buFont typeface="Arial" panose="020B0604020202020204" pitchFamily="34" charset="0"/>
              <a:buChar char="•"/>
            </a:pPr>
            <a:r>
              <a:rPr lang="en-NL" b="1" dirty="0">
                <a:latin typeface="IBM Plex Mono" panose="020B0509050203000203" pitchFamily="49" charset="77"/>
              </a:rPr>
              <a:t>Top 10 Rankings: </a:t>
            </a:r>
            <a:r>
              <a:rPr lang="en-NL" dirty="0">
                <a:latin typeface="IBM Plex Mono" panose="020B0509050203000203" pitchFamily="49" charset="77"/>
              </a:rPr>
              <a:t>Identification of the highest-paying technologies for the upcoming year.</a:t>
            </a:r>
          </a:p>
          <a:p>
            <a:pPr lvl="1"/>
            <a:r>
              <a:rPr lang="en-NL" b="1" dirty="0">
                <a:latin typeface="IBM Plex Mono" panose="020B0509050203000203" pitchFamily="49" charset="77"/>
              </a:rPr>
              <a:t>Dashboard:</a:t>
            </a:r>
          </a:p>
          <a:p>
            <a:pPr lvl="1"/>
            <a:r>
              <a:rPr lang="en-NL" b="1" dirty="0">
                <a:latin typeface="IBM Plex Mono" panose="020B0509050203000203" pitchFamily="49" charset="77"/>
              </a:rPr>
              <a:t>Integrated View: </a:t>
            </a:r>
            <a:r>
              <a:rPr lang="en-NL" dirty="0">
                <a:latin typeface="IBM Plex Mono" panose="020B0509050203000203" pitchFamily="49" charset="77"/>
              </a:rPr>
              <a:t>A consolidated dashboard combining job availability and salary trends.</a:t>
            </a:r>
          </a:p>
          <a:p>
            <a:pPr lvl="1"/>
            <a:r>
              <a:rPr lang="en-NL" b="1" dirty="0">
                <a:latin typeface="IBM Plex Mono" panose="020B0509050203000203" pitchFamily="49" charset="77"/>
              </a:rPr>
              <a:t>Data-Driven Logic: </a:t>
            </a:r>
            <a:r>
              <a:rPr lang="en-NL" dirty="0">
                <a:latin typeface="IBM Plex Mono" panose="020B0509050203000203" pitchFamily="49" charset="77"/>
              </a:rPr>
              <a:t>Transformation of API and scraped data into actionable career insights.</a:t>
            </a:r>
          </a:p>
          <a:p>
            <a:endParaRPr lang="en-NL" dirty="0"/>
          </a:p>
        </p:txBody>
      </p:sp>
      <p:sp>
        <p:nvSpPr>
          <p:cNvPr id="4" name="Slide Number Placeholder 3"/>
          <p:cNvSpPr>
            <a:spLocks noGrp="1"/>
          </p:cNvSpPr>
          <p:nvPr>
            <p:ph type="sldNum" sz="quarter" idx="5"/>
          </p:nvPr>
        </p:nvSpPr>
        <p:spPr/>
        <p:txBody>
          <a:bodyPr/>
          <a:lstStyle/>
          <a:p>
            <a:fld id="{EEBDA0E2-FEBD-4B65-8F16-724CF984F377}" type="slidenum">
              <a:rPr lang="en-US" smtClean="0"/>
              <a:t>6</a:t>
            </a:fld>
            <a:endParaRPr lang="en-US"/>
          </a:p>
        </p:txBody>
      </p:sp>
    </p:spTree>
    <p:extLst>
      <p:ext uri="{BB962C8B-B14F-4D97-AF65-F5344CB8AC3E}">
        <p14:creationId xmlns:p14="http://schemas.microsoft.com/office/powerpoint/2010/main" val="2332439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EBDA0E2-FEBD-4B65-8F16-724CF984F377}" type="slidenum">
              <a:rPr lang="en-US" smtClean="0"/>
              <a:t>14</a:t>
            </a:fld>
            <a:endParaRPr lang="en-US"/>
          </a:p>
        </p:txBody>
      </p:sp>
    </p:spTree>
    <p:extLst>
      <p:ext uri="{BB962C8B-B14F-4D97-AF65-F5344CB8AC3E}">
        <p14:creationId xmlns:p14="http://schemas.microsoft.com/office/powerpoint/2010/main" val="2385801387"/>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5" Type="http://schemas.openxmlformats.org/officeDocument/2006/relationships/image" Target="../media/image10.png"/><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294289" y="1241973"/>
            <a:ext cx="7184719" cy="2387600"/>
          </a:xfrm>
          <a:noFill/>
        </p:spPr>
        <p:txBody>
          <a:bodyPr>
            <a:normAutofit/>
          </a:bodyPr>
          <a:lstStyle/>
          <a:p>
            <a:pPr algn="r"/>
            <a:r>
              <a:rPr lang="en-GB" sz="4000" dirty="0"/>
              <a:t>Analysis of </a:t>
            </a:r>
            <a:r>
              <a:rPr lang="en-GB" sz="4000" dirty="0">
                <a:solidFill>
                  <a:srgbClr val="33B1FF"/>
                </a:solidFill>
              </a:rPr>
              <a:t>Global </a:t>
            </a:r>
            <a:br>
              <a:rPr lang="en-GB" sz="4000" dirty="0">
                <a:solidFill>
                  <a:srgbClr val="33B1FF"/>
                </a:solidFill>
              </a:rPr>
            </a:br>
            <a:r>
              <a:rPr lang="en-GB" sz="4000" dirty="0">
                <a:solidFill>
                  <a:srgbClr val="33B1FF"/>
                </a:solidFill>
              </a:rPr>
              <a:t>Technology Trends</a:t>
            </a:r>
            <a:br>
              <a:rPr lang="en-GB" sz="4000" dirty="0"/>
            </a:br>
            <a:r>
              <a:rPr lang="en-GB" sz="4000" dirty="0"/>
              <a:t> and IT </a:t>
            </a:r>
            <a:r>
              <a:rPr lang="en-GB" sz="4000" dirty="0">
                <a:solidFill>
                  <a:srgbClr val="00B050"/>
                </a:solidFill>
              </a:rPr>
              <a:t>Job Market</a:t>
            </a:r>
            <a:endParaRPr lang="en-US" sz="4000" dirty="0">
              <a:solidFill>
                <a:srgbClr val="00B050"/>
              </a:solidFill>
            </a:endParaRPr>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0" y="3910807"/>
            <a:ext cx="6890430" cy="1655762"/>
          </a:xfrm>
          <a:noFill/>
        </p:spPr>
        <p:txBody>
          <a:bodyPr/>
          <a:lstStyle/>
          <a:p>
            <a:pPr algn="r"/>
            <a:r>
              <a:rPr lang="en-US" dirty="0"/>
              <a:t>SAGHIR Haitham</a:t>
            </a:r>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184719" y="387350"/>
            <a:ext cx="4794861" cy="4351338"/>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dirty="0"/>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mc:Choice xmlns:p14="http://schemas.microsoft.com/office/powerpoint/2010/main"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3315744" y="1791521"/>
              <a:ext cx="360" cy="360"/>
            </p14:xfrm>
          </p:contentPart>
        </mc:Choice>
        <mc:Fallback>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3225744" y="1611521"/>
                <a:ext cx="180000" cy="360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590416" y="1401720"/>
              <a:ext cx="3240" cy="5040"/>
            </p14:xfrm>
          </p:contentPart>
        </mc:Choice>
        <mc:Fallback>
          <p:pic>
            <p:nvPicPr>
              <p:cNvPr id="14" name="Ink 13">
                <a:extLst>
                  <a:ext uri="{FF2B5EF4-FFF2-40B4-BE49-F238E27FC236}">
                    <a16:creationId xmlns:a16="http://schemas.microsoft.com/office/drawing/2014/main" id="{51E65F16-DA3B-6993-F729-45193F9CF124}"/>
                  </a:ext>
                </a:extLst>
              </p:cNvPr>
              <p:cNvPicPr/>
              <p:nvPr/>
            </p:nvPicPr>
            <p:blipFill>
              <a:blip r:embed="rId7"/>
              <a:stretch>
                <a:fillRect/>
              </a:stretch>
            </p:blipFill>
            <p:spPr>
              <a:xfrm>
                <a:off x="2500416" y="1233720"/>
                <a:ext cx="182880" cy="340704"/>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838200" y="2281741"/>
            <a:ext cx="3194581" cy="3194581"/>
          </a:xfrm>
          <a:prstGeom prst="rect">
            <a:avLst/>
          </a:prstGeom>
        </p:spPr>
      </p:pic>
      <p:sp>
        <p:nvSpPr>
          <p:cNvPr id="8" name="Content Placeholder 2">
            <a:extLst>
              <a:ext uri="{FF2B5EF4-FFF2-40B4-BE49-F238E27FC236}">
                <a16:creationId xmlns:a16="http://schemas.microsoft.com/office/drawing/2014/main" id="{FF52CB5F-A5D9-763C-68D3-A549363417CE}"/>
              </a:ext>
            </a:extLst>
          </p:cNvPr>
          <p:cNvSpPr txBox="1">
            <a:spLocks/>
          </p:cNvSpPr>
          <p:nvPr/>
        </p:nvSpPr>
        <p:spPr>
          <a:xfrm>
            <a:off x="4285075" y="1630527"/>
            <a:ext cx="7307835" cy="45705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pPr>
            <a:r>
              <a:rPr lang="en-US" sz="1700" b="1" dirty="0">
                <a:solidFill>
                  <a:schemeClr val="tx1"/>
                </a:solidFill>
              </a:rPr>
              <a:t>Point 1: </a:t>
            </a:r>
            <a:r>
              <a:rPr lang="en-US" sz="1700" dirty="0">
                <a:solidFill>
                  <a:schemeClr val="tx1"/>
                </a:solidFill>
              </a:rPr>
              <a:t>Conducted a comprehensive analysis of the tech landscape using the Stack Overflow Developer Survey and Job Board APIs.</a:t>
            </a:r>
          </a:p>
          <a:p>
            <a:pPr>
              <a:lnSpc>
                <a:spcPct val="100000"/>
              </a:lnSpc>
            </a:pPr>
            <a:r>
              <a:rPr lang="en-US" sz="1700" b="1" dirty="0">
                <a:solidFill>
                  <a:schemeClr val="tx1"/>
                </a:solidFill>
              </a:rPr>
              <a:t>Point 2: </a:t>
            </a:r>
            <a:r>
              <a:rPr lang="en-US" sz="1700" dirty="0">
                <a:solidFill>
                  <a:schemeClr val="tx1"/>
                </a:solidFill>
              </a:rPr>
              <a:t>Identified key drivers in current programming language popularity.</a:t>
            </a:r>
          </a:p>
          <a:p>
            <a:pPr marL="0" indent="0">
              <a:lnSpc>
                <a:spcPct val="100000"/>
              </a:lnSpc>
              <a:buNone/>
            </a:pPr>
            <a:r>
              <a:rPr lang="en-US" sz="1700" b="1" dirty="0">
                <a:solidFill>
                  <a:schemeClr val="tx1"/>
                </a:solidFill>
              </a:rPr>
              <a:t>	Sub Point 1: </a:t>
            </a:r>
            <a:r>
              <a:rPr lang="en-US" sz="1700" dirty="0">
                <a:solidFill>
                  <a:schemeClr val="tx1"/>
                </a:solidFill>
              </a:rPr>
              <a:t>Python and JavaScript remain dominant for web and data 	tasks.</a:t>
            </a:r>
          </a:p>
          <a:p>
            <a:pPr marL="0" indent="0">
              <a:lnSpc>
                <a:spcPct val="100000"/>
              </a:lnSpc>
              <a:buNone/>
            </a:pPr>
            <a:r>
              <a:rPr lang="en-US" sz="1700" b="1" dirty="0">
                <a:solidFill>
                  <a:schemeClr val="tx1"/>
                </a:solidFill>
              </a:rPr>
              <a:t>	Sub Point 2: </a:t>
            </a:r>
            <a:r>
              <a:rPr lang="en-US" sz="1700" dirty="0">
                <a:solidFill>
                  <a:schemeClr val="tx1"/>
                </a:solidFill>
              </a:rPr>
              <a:t>Emergence of TypeScript and Go as high-growth 	languages.</a:t>
            </a:r>
          </a:p>
          <a:p>
            <a:pPr marL="0" indent="0">
              <a:lnSpc>
                <a:spcPct val="100000"/>
              </a:lnSpc>
              <a:buNone/>
            </a:pPr>
            <a:r>
              <a:rPr lang="en-US" sz="1700" b="1" dirty="0">
                <a:solidFill>
                  <a:schemeClr val="tx1"/>
                </a:solidFill>
              </a:rPr>
              <a:t>	Sub Point 3: </a:t>
            </a:r>
            <a:r>
              <a:rPr lang="en-US" sz="1700" dirty="0">
                <a:solidFill>
                  <a:schemeClr val="tx1"/>
                </a:solidFill>
              </a:rPr>
              <a:t>Shift toward specialized languages in cloud environments.</a:t>
            </a:r>
          </a:p>
          <a:p>
            <a:pPr>
              <a:lnSpc>
                <a:spcPct val="100000"/>
              </a:lnSpc>
            </a:pPr>
            <a:r>
              <a:rPr lang="en-US" sz="1700" b="1" dirty="0">
                <a:solidFill>
                  <a:schemeClr val="tx1"/>
                </a:solidFill>
              </a:rPr>
              <a:t>Point 3: </a:t>
            </a:r>
            <a:r>
              <a:rPr lang="en-US" sz="1700" dirty="0">
                <a:solidFill>
                  <a:schemeClr val="tx1"/>
                </a:solidFill>
              </a:rPr>
              <a:t>Analyzed database preferences, showing a strong trend toward NoSQL and Cloud-integrated systems (like MongoDB and PostgreSQL).</a:t>
            </a:r>
          </a:p>
          <a:p>
            <a:pPr>
              <a:lnSpc>
                <a:spcPct val="100000"/>
              </a:lnSpc>
            </a:pPr>
            <a:r>
              <a:rPr lang="en-US" sz="1700" b="1" dirty="0">
                <a:solidFill>
                  <a:schemeClr val="tx1"/>
                </a:solidFill>
              </a:rPr>
              <a:t>Point 4: </a:t>
            </a:r>
            <a:r>
              <a:rPr lang="en-US" sz="1700" dirty="0">
                <a:solidFill>
                  <a:schemeClr val="tx1"/>
                </a:solidFill>
              </a:rPr>
              <a:t>Correlated technology skills with average annual compensation to identify high-value career paths.	</a:t>
            </a:r>
          </a:p>
          <a:p>
            <a:pPr>
              <a:lnSpc>
                <a:spcPct val="100000"/>
              </a:lnSpc>
            </a:pPr>
            <a:r>
              <a:rPr lang="en-US" sz="1700" b="1" dirty="0">
                <a:solidFill>
                  <a:schemeClr val="tx1"/>
                </a:solidFill>
              </a:rPr>
              <a:t>Point 5: </a:t>
            </a:r>
            <a:r>
              <a:rPr lang="en-US" sz="1700" dirty="0">
                <a:solidFill>
                  <a:schemeClr val="tx1"/>
                </a:solidFill>
              </a:rPr>
              <a:t>Developed an interactive dashboard to visualize market demand and supply of developer talent.	</a:t>
            </a:r>
          </a:p>
        </p:txBody>
      </p:sp>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20000"/>
              </a:lnSpc>
            </a:pPr>
            <a:r>
              <a:rPr lang="en-US" sz="2200" b="1" dirty="0">
                <a:solidFill>
                  <a:schemeClr val="tx1"/>
                </a:solidFill>
              </a:rPr>
              <a:t>Point 1: </a:t>
            </a:r>
            <a:r>
              <a:rPr lang="en-US" sz="2200" dirty="0">
                <a:solidFill>
                  <a:schemeClr val="tx1"/>
                </a:solidFill>
              </a:rPr>
              <a:t>This project aims to analyze the current state of the global technology landscape using real-world datasets from 2023-2024.</a:t>
            </a:r>
          </a:p>
          <a:p>
            <a:pPr>
              <a:lnSpc>
                <a:spcPct val="120000"/>
              </a:lnSpc>
            </a:pPr>
            <a:r>
              <a:rPr lang="en-US" sz="2200" b="1" dirty="0">
                <a:solidFill>
                  <a:schemeClr val="tx1"/>
                </a:solidFill>
              </a:rPr>
              <a:t>Point 2: </a:t>
            </a:r>
            <a:r>
              <a:rPr lang="en-US" sz="2200" dirty="0">
                <a:solidFill>
                  <a:schemeClr val="tx1"/>
                </a:solidFill>
              </a:rPr>
              <a:t>The primary goal is to identify which programming languages and databases are dominating the market and which are projected to grow.</a:t>
            </a:r>
          </a:p>
          <a:p>
            <a:pPr>
              <a:lnSpc>
                <a:spcPct val="120000"/>
              </a:lnSpc>
            </a:pPr>
            <a:r>
              <a:rPr lang="en-US" sz="2200" b="1" dirty="0">
                <a:solidFill>
                  <a:schemeClr val="tx1"/>
                </a:solidFill>
              </a:rPr>
              <a:t>Point 3: </a:t>
            </a:r>
            <a:r>
              <a:rPr lang="en-US" sz="2200" dirty="0">
                <a:solidFill>
                  <a:schemeClr val="tx1"/>
                </a:solidFill>
              </a:rPr>
              <a:t>By leveraging the Stack Overflow Developer Survey, we explored the correlation between specific technical skills and job market compensation.</a:t>
            </a:r>
          </a:p>
          <a:p>
            <a:pPr>
              <a:lnSpc>
                <a:spcPct val="120000"/>
              </a:lnSpc>
            </a:pPr>
            <a:r>
              <a:rPr lang="en-US" sz="2200" b="1" dirty="0">
                <a:solidFill>
                  <a:schemeClr val="tx1"/>
                </a:solidFill>
              </a:rPr>
              <a:t>Point 4: </a:t>
            </a:r>
            <a:r>
              <a:rPr lang="en-US" sz="2200" dirty="0">
                <a:solidFill>
                  <a:schemeClr val="tx1"/>
                </a:solidFill>
              </a:rPr>
              <a:t>This analysis provides actionable insights for both employers looking for talent and developers looking to upskill in a competitive market.</a:t>
            </a:r>
          </a:p>
          <a:p>
            <a:pPr marL="0" indent="0">
              <a:lnSpc>
                <a:spcPct val="120000"/>
              </a:lnSpc>
              <a:buNone/>
            </a:pPr>
            <a:r>
              <a:rPr lang="en-US" sz="2200" dirty="0">
                <a:solidFill>
                  <a:schemeClr val="tx1"/>
                </a:solidFill>
              </a:rPr>
              <a:t>	</a:t>
            </a:r>
            <a:r>
              <a:rPr lang="en-US" sz="2200" b="1" dirty="0">
                <a:solidFill>
                  <a:schemeClr val="tx1"/>
                </a:solidFill>
              </a:rPr>
              <a:t>Sub Point 1: </a:t>
            </a:r>
            <a:r>
              <a:rPr lang="en-US" sz="2200" dirty="0">
                <a:solidFill>
                  <a:schemeClr val="tx1"/>
                </a:solidFill>
              </a:rPr>
              <a:t>Focused on identifying "High-Demand" vs. 	"High-Supply" technologies.</a:t>
            </a:r>
          </a:p>
          <a:p>
            <a:pPr marL="0" indent="0">
              <a:lnSpc>
                <a:spcPct val="120000"/>
              </a:lnSpc>
              <a:buNone/>
            </a:pPr>
            <a:r>
              <a:rPr lang="en-US" sz="2200" dirty="0">
                <a:solidFill>
                  <a:schemeClr val="tx1"/>
                </a:solidFill>
              </a:rPr>
              <a:t>	</a:t>
            </a:r>
            <a:r>
              <a:rPr lang="en-US" sz="2200" b="1" dirty="0">
                <a:solidFill>
                  <a:schemeClr val="tx1"/>
                </a:solidFill>
              </a:rPr>
              <a:t>Sub Point 2: </a:t>
            </a:r>
            <a:r>
              <a:rPr lang="en-US" sz="2200" dirty="0">
                <a:solidFill>
                  <a:schemeClr val="tx1"/>
                </a:solidFill>
              </a:rPr>
              <a:t>Examined regional variations in job postings and salary 	trends to provide a global perspective.</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5" name="Content Placeholder 2">
            <a:extLst>
              <a:ext uri="{FF2B5EF4-FFF2-40B4-BE49-F238E27FC236}">
                <a16:creationId xmlns:a16="http://schemas.microsoft.com/office/drawing/2014/main" id="{38047087-1CF9-BE2A-41C2-ECFD6E0AE7D9}"/>
              </a:ext>
            </a:extLst>
          </p:cNvPr>
          <p:cNvSpPr txBox="1">
            <a:spLocks/>
          </p:cNvSpPr>
          <p:nvPr/>
        </p:nvSpPr>
        <p:spPr>
          <a:xfrm>
            <a:off x="4285075"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20000"/>
              </a:lnSpc>
            </a:pPr>
            <a:r>
              <a:rPr lang="en-US" sz="1700" b="1" dirty="0">
                <a:solidFill>
                  <a:schemeClr val="tx1"/>
                </a:solidFill>
              </a:rPr>
              <a:t>Data Collection: </a:t>
            </a:r>
            <a:r>
              <a:rPr lang="en-US" sz="1700" dirty="0">
                <a:solidFill>
                  <a:schemeClr val="tx1"/>
                </a:solidFill>
              </a:rPr>
              <a:t>Gathered data using Python libraries to access the Job Posting API and Scrapy/</a:t>
            </a:r>
            <a:r>
              <a:rPr lang="en-US" sz="1700" dirty="0" err="1">
                <a:solidFill>
                  <a:schemeClr val="tx1"/>
                </a:solidFill>
              </a:rPr>
              <a:t>BeautifulSoup</a:t>
            </a:r>
            <a:r>
              <a:rPr lang="en-US" sz="1700" dirty="0">
                <a:solidFill>
                  <a:schemeClr val="tx1"/>
                </a:solidFill>
              </a:rPr>
              <a:t> for web scraping.</a:t>
            </a:r>
          </a:p>
          <a:p>
            <a:pPr>
              <a:lnSpc>
                <a:spcPct val="100000"/>
              </a:lnSpc>
            </a:pPr>
            <a:r>
              <a:rPr lang="en-US" sz="1700" b="1" dirty="0">
                <a:solidFill>
                  <a:schemeClr val="tx1"/>
                </a:solidFill>
              </a:rPr>
              <a:t>Data Wrangling: </a:t>
            </a:r>
            <a:r>
              <a:rPr lang="en-US" sz="1700" dirty="0">
                <a:solidFill>
                  <a:schemeClr val="tx1"/>
                </a:solidFill>
              </a:rPr>
              <a:t>Cleaned and pre-processed the Stack Overflow survey results using Pandas to handle missing values and duplicates.</a:t>
            </a:r>
          </a:p>
          <a:p>
            <a:pPr>
              <a:lnSpc>
                <a:spcPct val="120000"/>
              </a:lnSpc>
            </a:pPr>
            <a:r>
              <a:rPr lang="en-US" sz="1700" b="1" dirty="0">
                <a:solidFill>
                  <a:schemeClr val="tx1"/>
                </a:solidFill>
              </a:rPr>
              <a:t>Exploratory Data Analysis (EDA): </a:t>
            </a:r>
            <a:r>
              <a:rPr lang="en-US" sz="1700" dirty="0">
                <a:solidFill>
                  <a:schemeClr val="tx1"/>
                </a:solidFill>
              </a:rPr>
              <a:t>Performed statistical analysis to identify distribution, outliers, and correlations in the tech stack.</a:t>
            </a:r>
          </a:p>
          <a:p>
            <a:pPr>
              <a:lnSpc>
                <a:spcPct val="120000"/>
              </a:lnSpc>
            </a:pPr>
            <a:r>
              <a:rPr lang="en-US" sz="1700" b="1" dirty="0">
                <a:solidFill>
                  <a:schemeClr val="tx1"/>
                </a:solidFill>
              </a:rPr>
              <a:t>Data Visualization &amp; Dashboarding: </a:t>
            </a:r>
          </a:p>
          <a:p>
            <a:pPr marL="0" indent="0">
              <a:lnSpc>
                <a:spcPct val="120000"/>
              </a:lnSpc>
              <a:buNone/>
            </a:pPr>
            <a:r>
              <a:rPr lang="en-US" sz="1700" b="1" dirty="0">
                <a:solidFill>
                  <a:schemeClr val="tx1"/>
                </a:solidFill>
              </a:rPr>
              <a:t>	Sub Point 1: </a:t>
            </a:r>
            <a:r>
              <a:rPr lang="en-US" sz="1700" dirty="0">
                <a:solidFill>
                  <a:schemeClr val="tx1"/>
                </a:solidFill>
              </a:rPr>
              <a:t>Created static charts using Matplotlib/Seaborn for 	deep-dive reporting.</a:t>
            </a:r>
          </a:p>
          <a:p>
            <a:pPr marL="0" indent="0">
              <a:lnSpc>
                <a:spcPct val="120000"/>
              </a:lnSpc>
              <a:buNone/>
            </a:pPr>
            <a:r>
              <a:rPr lang="en-US" sz="1700" dirty="0">
                <a:solidFill>
                  <a:schemeClr val="tx1"/>
                </a:solidFill>
              </a:rPr>
              <a:t>	</a:t>
            </a:r>
            <a:r>
              <a:rPr lang="en-US" sz="1700" b="1" dirty="0">
                <a:solidFill>
                  <a:schemeClr val="tx1"/>
                </a:solidFill>
              </a:rPr>
              <a:t>Sub Point 2: </a:t>
            </a:r>
            <a:r>
              <a:rPr lang="en-US" sz="1700" dirty="0">
                <a:solidFill>
                  <a:schemeClr val="tx1"/>
                </a:solidFill>
              </a:rPr>
              <a:t>Developed an interactive dashboard in Cognos/Looker 	Studio for dynamic data exploration.</a:t>
            </a:r>
            <a:r>
              <a:rPr lang="en-US" sz="2200" dirty="0">
                <a:solidFill>
                  <a:schemeClr val="tx1"/>
                </a:solidFill>
              </a:rPr>
              <a:t>	</a:t>
            </a:r>
          </a:p>
        </p:txBody>
      </p:sp>
      <p:sp>
        <p:nvSpPr>
          <p:cNvPr id="11" name="AutoShape 7">
            <a:extLst>
              <a:ext uri="{FF2B5EF4-FFF2-40B4-BE49-F238E27FC236}">
                <a16:creationId xmlns:a16="http://schemas.microsoft.com/office/drawing/2014/main" id="{7A92D5D2-FEBF-C442-94A2-0583ABF5F8A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title"/>
          </p:nvPr>
        </p:nvSpPr>
        <p:spPr>
          <a:xfrm>
            <a:off x="838200" y="365125"/>
            <a:ext cx="10515600" cy="1325563"/>
          </a:xfrm>
        </p:spPr>
        <p:txBody>
          <a:bodyPr anchor="ctr">
            <a:normAutofit/>
          </a:bodyPr>
          <a:lstStyle/>
          <a:p>
            <a:r>
              <a:rPr lang="en-US" dirty="0"/>
              <a:t>RESULTS</a:t>
            </a:r>
          </a:p>
        </p:txBody>
      </p:sp>
      <p:sp>
        <p:nvSpPr>
          <p:cNvPr id="6" name="AutoShape 2">
            <a:extLst>
              <a:ext uri="{FF2B5EF4-FFF2-40B4-BE49-F238E27FC236}">
                <a16:creationId xmlns:a16="http://schemas.microsoft.com/office/drawing/2014/main" id="{96E32868-E910-0858-ED12-93CC6B21FB48}"/>
              </a:ext>
            </a:extLst>
          </p:cNvPr>
          <p:cNvSpPr>
            <a:spLocks noChangeAspect="1" noChangeArrowheads="1"/>
          </p:cNvSpPr>
          <p:nvPr/>
        </p:nvSpPr>
        <p:spPr bwMode="auto">
          <a:xfrm>
            <a:off x="168166" y="-2498834"/>
            <a:ext cx="6080234" cy="608023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pic>
        <p:nvPicPr>
          <p:cNvPr id="8" name="Picture 7">
            <a:extLst>
              <a:ext uri="{FF2B5EF4-FFF2-40B4-BE49-F238E27FC236}">
                <a16:creationId xmlns:a16="http://schemas.microsoft.com/office/drawing/2014/main" id="{A76EE50F-28DA-D5FC-93AF-E20CD424354C}"/>
              </a:ext>
            </a:extLst>
          </p:cNvPr>
          <p:cNvPicPr>
            <a:picLocks noChangeAspect="1"/>
          </p:cNvPicPr>
          <p:nvPr/>
        </p:nvPicPr>
        <p:blipFill>
          <a:blip r:embed="rId4"/>
          <a:stretch>
            <a:fillRect/>
          </a:stretch>
        </p:blipFill>
        <p:spPr>
          <a:xfrm>
            <a:off x="959069" y="2038350"/>
            <a:ext cx="3098800" cy="3086100"/>
          </a:xfrm>
          <a:prstGeom prst="rect">
            <a:avLst/>
          </a:prstGeom>
        </p:spPr>
      </p:pic>
      <p:sp>
        <p:nvSpPr>
          <p:cNvPr id="10" name="AutoShape 6">
            <a:extLst>
              <a:ext uri="{FF2B5EF4-FFF2-40B4-BE49-F238E27FC236}">
                <a16:creationId xmlns:a16="http://schemas.microsoft.com/office/drawing/2014/main" id="{71D3FD63-0744-F97D-AE46-020445CFBE0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L"/>
          </a:p>
        </p:txBody>
      </p:sp>
      <p:sp>
        <p:nvSpPr>
          <p:cNvPr id="11" name="Content Placeholder 2">
            <a:extLst>
              <a:ext uri="{FF2B5EF4-FFF2-40B4-BE49-F238E27FC236}">
                <a16:creationId xmlns:a16="http://schemas.microsoft.com/office/drawing/2014/main" id="{4BF26DE6-294B-0E72-25B7-4402ED6557DA}"/>
              </a:ext>
            </a:extLst>
          </p:cNvPr>
          <p:cNvSpPr txBox="1">
            <a:spLocks/>
          </p:cNvSpPr>
          <p:nvPr/>
        </p:nvSpPr>
        <p:spPr>
          <a:xfrm>
            <a:off x="4285075" y="1468273"/>
            <a:ext cx="6947855" cy="502460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buNone/>
            </a:pPr>
            <a:r>
              <a:rPr lang="en-US" sz="2700" b="1" dirty="0">
                <a:solidFill>
                  <a:schemeClr val="tx1"/>
                </a:solidFill>
              </a:rPr>
              <a:t>Results: Visual Insights</a:t>
            </a:r>
          </a:p>
          <a:p>
            <a:pPr marL="0" indent="0">
              <a:lnSpc>
                <a:spcPct val="120000"/>
              </a:lnSpc>
              <a:buNone/>
            </a:pPr>
            <a:r>
              <a:rPr lang="en-US" sz="2700" dirty="0">
                <a:solidFill>
                  <a:schemeClr val="tx1"/>
                </a:solidFill>
              </a:rPr>
              <a:t>This section summarizes the data processed through our analysis pipeline, focusing on market demand and compensation.</a:t>
            </a:r>
          </a:p>
          <a:p>
            <a:pPr marL="0" indent="0">
              <a:lnSpc>
                <a:spcPct val="120000"/>
              </a:lnSpc>
              <a:buNone/>
            </a:pPr>
            <a:r>
              <a:rPr lang="en-US" sz="2700" b="1" dirty="0">
                <a:solidFill>
                  <a:schemeClr val="tx1"/>
                </a:solidFill>
              </a:rPr>
              <a:t>Visualization – Charts:</a:t>
            </a:r>
          </a:p>
          <a:p>
            <a:pPr lvl="1">
              <a:lnSpc>
                <a:spcPct val="120000"/>
              </a:lnSpc>
            </a:pPr>
            <a:r>
              <a:rPr lang="en-US" sz="2700" b="1" dirty="0">
                <a:solidFill>
                  <a:schemeClr val="tx1"/>
                </a:solidFill>
              </a:rPr>
              <a:t>Job posting by Location: </a:t>
            </a:r>
            <a:r>
              <a:rPr lang="en-US" sz="2700" dirty="0">
                <a:solidFill>
                  <a:schemeClr val="tx1"/>
                </a:solidFill>
              </a:rPr>
              <a:t>Bar charts showing demand distribution, sorted </a:t>
            </a:r>
            <a:r>
              <a:rPr lang="en-US" sz="2700" dirty="0" err="1">
                <a:solidFill>
                  <a:schemeClr val="tx1"/>
                </a:solidFill>
              </a:rPr>
              <a:t>descendingly</a:t>
            </a:r>
            <a:r>
              <a:rPr lang="en-US" sz="2700" dirty="0">
                <a:solidFill>
                  <a:schemeClr val="tx1"/>
                </a:solidFill>
              </a:rPr>
              <a:t>.</a:t>
            </a:r>
          </a:p>
          <a:p>
            <a:pPr lvl="1">
              <a:lnSpc>
                <a:spcPct val="120000"/>
              </a:lnSpc>
            </a:pPr>
            <a:r>
              <a:rPr lang="en-US" sz="2700" b="1" dirty="0">
                <a:solidFill>
                  <a:schemeClr val="tx1"/>
                </a:solidFill>
              </a:rPr>
              <a:t>Salary Comparison: </a:t>
            </a:r>
            <a:r>
              <a:rPr lang="en-US" sz="2700" dirty="0">
                <a:solidFill>
                  <a:schemeClr val="tx1"/>
                </a:solidFill>
              </a:rPr>
              <a:t>Ranking of programming languages based on average annual earnings.</a:t>
            </a:r>
          </a:p>
          <a:p>
            <a:pPr lvl="1">
              <a:lnSpc>
                <a:spcPct val="120000"/>
              </a:lnSpc>
            </a:pPr>
            <a:r>
              <a:rPr lang="en-US" sz="2700" b="1" dirty="0">
                <a:solidFill>
                  <a:schemeClr val="tx1"/>
                </a:solidFill>
              </a:rPr>
              <a:t>Top 10 Rankings: </a:t>
            </a:r>
            <a:r>
              <a:rPr lang="en-US" sz="2700" dirty="0">
                <a:solidFill>
                  <a:schemeClr val="tx1"/>
                </a:solidFill>
              </a:rPr>
              <a:t>Identification of the highest-paying technologies for the upcoming year.</a:t>
            </a:r>
          </a:p>
          <a:p>
            <a:pPr marL="0" indent="0">
              <a:lnSpc>
                <a:spcPct val="120000"/>
              </a:lnSpc>
              <a:buNone/>
            </a:pPr>
            <a:r>
              <a:rPr lang="en-US" sz="2700" b="1" dirty="0">
                <a:solidFill>
                  <a:schemeClr val="tx1"/>
                </a:solidFill>
              </a:rPr>
              <a:t>Dashboard:</a:t>
            </a:r>
          </a:p>
          <a:p>
            <a:pPr lvl="1">
              <a:lnSpc>
                <a:spcPct val="120000"/>
              </a:lnSpc>
            </a:pPr>
            <a:r>
              <a:rPr lang="en-US" sz="2700" b="1" dirty="0">
                <a:solidFill>
                  <a:schemeClr val="tx1"/>
                </a:solidFill>
              </a:rPr>
              <a:t>Integrated View: </a:t>
            </a:r>
            <a:r>
              <a:rPr lang="en-US" sz="2700" dirty="0">
                <a:solidFill>
                  <a:schemeClr val="tx1"/>
                </a:solidFill>
              </a:rPr>
              <a:t>A consolidated dashboard combining job availability and salary trends.</a:t>
            </a:r>
          </a:p>
          <a:p>
            <a:pPr lvl="1">
              <a:lnSpc>
                <a:spcPct val="120000"/>
              </a:lnSpc>
            </a:pPr>
            <a:r>
              <a:rPr lang="en-US" sz="2700" b="1" dirty="0">
                <a:solidFill>
                  <a:schemeClr val="tx1"/>
                </a:solidFill>
              </a:rPr>
              <a:t>Data-Driven Logic: </a:t>
            </a:r>
            <a:r>
              <a:rPr lang="en-US" sz="2700" dirty="0">
                <a:solidFill>
                  <a:schemeClr val="tx1"/>
                </a:solidFill>
              </a:rPr>
              <a:t>Transformation of API and scraped data into actionable career insights.</a:t>
            </a:r>
          </a:p>
          <a:p>
            <a:pPr>
              <a:lnSpc>
                <a:spcPct val="120000"/>
              </a:lnSpc>
            </a:pPr>
            <a:endParaRPr lang="en-US" sz="2200" dirty="0">
              <a:solidFill>
                <a:schemeClr val="tx1"/>
              </a:solidFill>
            </a:endParaRPr>
          </a:p>
        </p:txBody>
      </p:sp>
    </p:spTree>
    <p:custDataLst>
      <p:tags r:id="rId1"/>
    </p:custDataLst>
    <p:extLst>
      <p:ext uri="{BB962C8B-B14F-4D97-AF65-F5344CB8AC3E}">
        <p14:creationId xmlns:p14="http://schemas.microsoft.com/office/powerpoint/2010/main" val="221590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3" name="Imagen 2">
            <a:extLst>
              <a:ext uri="{FF2B5EF4-FFF2-40B4-BE49-F238E27FC236}">
                <a16:creationId xmlns:a16="http://schemas.microsoft.com/office/drawing/2014/main" id="{422DD23D-290B-D068-EB35-D8D9FF0A49A7}"/>
              </a:ext>
            </a:extLst>
          </p:cNvPr>
          <p:cNvPicPr>
            <a:picLocks noChangeAspect="1"/>
          </p:cNvPicPr>
          <p:nvPr/>
        </p:nvPicPr>
        <p:blipFill>
          <a:blip r:embed="rId3"/>
          <a:stretch>
            <a:fillRect/>
          </a:stretch>
        </p:blipFill>
        <p:spPr>
          <a:xfrm>
            <a:off x="251578" y="1868219"/>
            <a:ext cx="6597989" cy="3710093"/>
          </a:xfrm>
          <a:prstGeom prst="rect">
            <a:avLst/>
          </a:prstGeom>
        </p:spPr>
      </p:pic>
      <p:sp>
        <p:nvSpPr>
          <p:cNvPr id="2" name="Content Placeholder 2">
            <a:extLst>
              <a:ext uri="{FF2B5EF4-FFF2-40B4-BE49-F238E27FC236}">
                <a16:creationId xmlns:a16="http://schemas.microsoft.com/office/drawing/2014/main" id="{093D2939-292E-3FBE-6817-BAE92291D548}"/>
              </a:ext>
            </a:extLst>
          </p:cNvPr>
          <p:cNvSpPr txBox="1">
            <a:spLocks/>
          </p:cNvSpPr>
          <p:nvPr/>
        </p:nvSpPr>
        <p:spPr>
          <a:xfrm>
            <a:off x="6849567" y="3001743"/>
            <a:ext cx="4879946" cy="8545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buNone/>
            </a:pPr>
            <a:r>
              <a:rPr lang="en-US" sz="1700" dirty="0">
                <a:solidFill>
                  <a:schemeClr val="tx1"/>
                </a:solidFill>
              </a:rPr>
              <a:t>Data collected via Job API, processed with Pandas, and visualized using Matplotlib.</a:t>
            </a:r>
          </a:p>
          <a:p>
            <a:pPr marL="0" indent="0" algn="ctr">
              <a:lnSpc>
                <a:spcPct val="120000"/>
              </a:lnSpc>
              <a:buNone/>
            </a:pPr>
            <a:endParaRPr lang="en-US" sz="1600" dirty="0">
              <a:solidFill>
                <a:schemeClr val="tx1"/>
              </a:solidFill>
            </a:endParaRPr>
          </a:p>
        </p:txBody>
      </p:sp>
    </p:spTree>
    <p:custDataLst>
      <p:tags r:id="rId1"/>
    </p:custDataLst>
    <p:extLst>
      <p:ext uri="{BB962C8B-B14F-4D97-AF65-F5344CB8AC3E}">
        <p14:creationId xmlns:p14="http://schemas.microsoft.com/office/powerpoint/2010/main" val="188376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2851838" y="0"/>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6273478" y="3576577"/>
            <a:ext cx="5280669" cy="15933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3" name="Imagen 2">
            <a:extLst>
              <a:ext uri="{FF2B5EF4-FFF2-40B4-BE49-F238E27FC236}">
                <a16:creationId xmlns:a16="http://schemas.microsoft.com/office/drawing/2014/main" id="{A816283E-FC7A-4BC4-AD25-11FCF0D335AB}"/>
              </a:ext>
            </a:extLst>
          </p:cNvPr>
          <p:cNvPicPr>
            <a:picLocks noChangeAspect="1"/>
          </p:cNvPicPr>
          <p:nvPr/>
        </p:nvPicPr>
        <p:blipFill>
          <a:blip r:embed="rId3"/>
          <a:stretch>
            <a:fillRect/>
          </a:stretch>
        </p:blipFill>
        <p:spPr>
          <a:xfrm>
            <a:off x="385604" y="1872220"/>
            <a:ext cx="7066230" cy="3968069"/>
          </a:xfrm>
          <a:prstGeom prst="rect">
            <a:avLst/>
          </a:prstGeom>
        </p:spPr>
      </p:pic>
      <p:sp>
        <p:nvSpPr>
          <p:cNvPr id="2" name="Content Placeholder 2">
            <a:extLst>
              <a:ext uri="{FF2B5EF4-FFF2-40B4-BE49-F238E27FC236}">
                <a16:creationId xmlns:a16="http://schemas.microsoft.com/office/drawing/2014/main" id="{5BAE1F33-9A95-6C87-4F3E-AE2F30F208B7}"/>
              </a:ext>
            </a:extLst>
          </p:cNvPr>
          <p:cNvSpPr txBox="1">
            <a:spLocks/>
          </p:cNvSpPr>
          <p:nvPr/>
        </p:nvSpPr>
        <p:spPr>
          <a:xfrm>
            <a:off x="6926450" y="2543904"/>
            <a:ext cx="4627697" cy="20653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20000"/>
              </a:lnSpc>
              <a:buNone/>
            </a:pPr>
            <a:r>
              <a:rPr lang="en-US" sz="1700" dirty="0">
                <a:solidFill>
                  <a:schemeClr val="tx1"/>
                </a:solidFill>
              </a:rPr>
              <a:t>This chart represents salary data collected through web scraping. The data was cleaned and processed using Python (Pandas/</a:t>
            </a:r>
            <a:r>
              <a:rPr lang="en-US" sz="1700" dirty="0" err="1">
                <a:solidFill>
                  <a:schemeClr val="tx1"/>
                </a:solidFill>
              </a:rPr>
              <a:t>BeautifulSoup</a:t>
            </a:r>
            <a:r>
              <a:rPr lang="en-US" sz="1700" dirty="0">
                <a:solidFill>
                  <a:schemeClr val="tx1"/>
                </a:solidFill>
              </a:rPr>
              <a:t>) and visualized in descending order to highlight the most lucrative programming languages in the current job market.</a:t>
            </a:r>
          </a:p>
          <a:p>
            <a:pPr marL="0" indent="0" algn="ctr">
              <a:lnSpc>
                <a:spcPct val="120000"/>
              </a:lnSpc>
              <a:buNone/>
            </a:pPr>
            <a:endParaRPr lang="en-US" sz="1600" dirty="0">
              <a:solidFill>
                <a:schemeClr val="tx1"/>
              </a:solidFill>
            </a:endParaRPr>
          </a:p>
        </p:txBody>
      </p:sp>
    </p:spTree>
    <p:custDataLst>
      <p:tags r:id="rId1"/>
    </p:custDataLst>
    <p:extLst>
      <p:ext uri="{BB962C8B-B14F-4D97-AF65-F5344CB8AC3E}">
        <p14:creationId xmlns:p14="http://schemas.microsoft.com/office/powerpoint/2010/main" val="3170226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2038626" y="2072557"/>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8130645" y="2072557"/>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45473"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3" name="TextBox 2">
            <a:extLst>
              <a:ext uri="{FF2B5EF4-FFF2-40B4-BE49-F238E27FC236}">
                <a16:creationId xmlns:a16="http://schemas.microsoft.com/office/drawing/2014/main" id="{551C5862-9AB9-9679-23B5-A950E973AFB5}"/>
              </a:ext>
            </a:extLst>
          </p:cNvPr>
          <p:cNvSpPr txBox="1"/>
          <p:nvPr/>
        </p:nvSpPr>
        <p:spPr>
          <a:xfrm>
            <a:off x="2377083" y="1475244"/>
            <a:ext cx="6632633" cy="461665"/>
          </a:xfrm>
          <a:prstGeom prst="rect">
            <a:avLst/>
          </a:prstGeom>
          <a:noFill/>
        </p:spPr>
        <p:txBody>
          <a:bodyPr wrap="square" rtlCol="0">
            <a:spAutoFit/>
          </a:bodyPr>
          <a:lstStyle/>
          <a:p>
            <a:r>
              <a:rPr lang="en-US" sz="2400" dirty="0"/>
              <a:t>Summarize key trends shown in the charts.</a:t>
            </a:r>
          </a:p>
        </p:txBody>
      </p:sp>
      <p:pic>
        <p:nvPicPr>
          <p:cNvPr id="4" name="Imagen 3">
            <a:extLst>
              <a:ext uri="{FF2B5EF4-FFF2-40B4-BE49-F238E27FC236}">
                <a16:creationId xmlns:a16="http://schemas.microsoft.com/office/drawing/2014/main" id="{087595E4-CB77-A45B-E639-2513E495807F}"/>
              </a:ext>
            </a:extLst>
          </p:cNvPr>
          <p:cNvPicPr>
            <a:picLocks noChangeAspect="1"/>
          </p:cNvPicPr>
          <p:nvPr/>
        </p:nvPicPr>
        <p:blipFill>
          <a:blip r:embed="rId3"/>
          <a:stretch>
            <a:fillRect/>
          </a:stretch>
        </p:blipFill>
        <p:spPr>
          <a:xfrm>
            <a:off x="364926" y="2517883"/>
            <a:ext cx="5258005" cy="3031579"/>
          </a:xfrm>
          <a:prstGeom prst="rect">
            <a:avLst/>
          </a:prstGeom>
        </p:spPr>
      </p:pic>
      <p:pic>
        <p:nvPicPr>
          <p:cNvPr id="6" name="Imagen 5">
            <a:extLst>
              <a:ext uri="{FF2B5EF4-FFF2-40B4-BE49-F238E27FC236}">
                <a16:creationId xmlns:a16="http://schemas.microsoft.com/office/drawing/2014/main" id="{15062167-9BCE-0F3F-DB00-BC52358A87A7}"/>
              </a:ext>
            </a:extLst>
          </p:cNvPr>
          <p:cNvPicPr>
            <a:picLocks noChangeAspect="1"/>
          </p:cNvPicPr>
          <p:nvPr/>
        </p:nvPicPr>
        <p:blipFill>
          <a:blip r:embed="rId4"/>
          <a:stretch>
            <a:fillRect/>
          </a:stretch>
        </p:blipFill>
        <p:spPr>
          <a:xfrm>
            <a:off x="5940969" y="2517883"/>
            <a:ext cx="5898661" cy="3031579"/>
          </a:xfrm>
          <a:prstGeom prst="rect">
            <a:avLst/>
          </a:prstGeom>
        </p:spPr>
      </p:pic>
    </p:spTree>
    <p:custDataLst>
      <p:tags r:id="rId1"/>
    </p:custDataLst>
    <p:extLst>
      <p:ext uri="{BB962C8B-B14F-4D97-AF65-F5344CB8AC3E}">
        <p14:creationId xmlns:p14="http://schemas.microsoft.com/office/powerpoint/2010/main" val="3502572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165658"/>
            <a:ext cx="10740735" cy="1330037"/>
          </a:xfrm>
        </p:spPr>
        <p:txBody>
          <a:bodyPr>
            <a:noAutofit/>
          </a:bodyPr>
          <a:lstStyle/>
          <a:p>
            <a:pPr algn="ctr"/>
            <a:r>
              <a:rPr lang="en-US" dirty="0"/>
              <a:t>PROGRAMMING LANGUAGE TRENDS - FINDINGS &amp; IMPLICATIONS</a:t>
            </a:r>
          </a:p>
        </p:txBody>
      </p:sp>
      <p:sp>
        <p:nvSpPr>
          <p:cNvPr id="5" name="Content Placeholder 2">
            <a:extLst>
              <a:ext uri="{FF2B5EF4-FFF2-40B4-BE49-F238E27FC236}">
                <a16:creationId xmlns:a16="http://schemas.microsoft.com/office/drawing/2014/main" id="{83749AC1-A5C9-F830-CDA9-FFB14EDEC0B3}"/>
              </a:ext>
            </a:extLst>
          </p:cNvPr>
          <p:cNvSpPr txBox="1">
            <a:spLocks/>
          </p:cNvSpPr>
          <p:nvPr/>
        </p:nvSpPr>
        <p:spPr>
          <a:xfrm>
            <a:off x="838201" y="1986455"/>
            <a:ext cx="4627697" cy="360504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20000"/>
              </a:lnSpc>
              <a:buNone/>
            </a:pPr>
            <a:r>
              <a:rPr lang="en-US" sz="3800" dirty="0">
                <a:solidFill>
                  <a:schemeClr val="tx1"/>
                </a:solidFill>
              </a:rPr>
              <a:t>FINDINGS</a:t>
            </a:r>
          </a:p>
          <a:p>
            <a:pPr marL="0" indent="0" algn="just">
              <a:lnSpc>
                <a:spcPct val="110000"/>
              </a:lnSpc>
              <a:buNone/>
            </a:pPr>
            <a:r>
              <a:rPr lang="en-US" sz="1800" dirty="0">
                <a:solidFill>
                  <a:schemeClr val="tx1"/>
                </a:solidFill>
              </a:rPr>
              <a:t>Salary Leaders: Python and Java consistently rank among the highest-paying languages in the current market.</a:t>
            </a:r>
          </a:p>
          <a:p>
            <a:pPr marL="0" indent="0" algn="just">
              <a:lnSpc>
                <a:spcPct val="110000"/>
              </a:lnSpc>
              <a:buNone/>
            </a:pPr>
            <a:r>
              <a:rPr lang="en-US" sz="1800" dirty="0">
                <a:solidFill>
                  <a:schemeClr val="tx1"/>
                </a:solidFill>
              </a:rPr>
              <a:t>Geographic Clusters: Job availability is highly concentrated in specific tech hubs like New York and San Francisco.</a:t>
            </a:r>
          </a:p>
          <a:p>
            <a:pPr marL="0" indent="0" algn="just">
              <a:lnSpc>
                <a:spcPct val="110000"/>
              </a:lnSpc>
              <a:buNone/>
            </a:pPr>
            <a:r>
              <a:rPr lang="en-US" sz="1800" dirty="0">
                <a:solidFill>
                  <a:schemeClr val="tx1"/>
                </a:solidFill>
              </a:rPr>
              <a:t>Database Value: Proficiency in specialized systems like MongoDB and SQL correlates with premium salary scales.</a:t>
            </a:r>
          </a:p>
        </p:txBody>
      </p:sp>
      <p:sp>
        <p:nvSpPr>
          <p:cNvPr id="7" name="Content Placeholder 2">
            <a:extLst>
              <a:ext uri="{FF2B5EF4-FFF2-40B4-BE49-F238E27FC236}">
                <a16:creationId xmlns:a16="http://schemas.microsoft.com/office/drawing/2014/main" id="{834505E9-8CAB-E6F7-3FD8-A1899563C114}"/>
              </a:ext>
            </a:extLst>
          </p:cNvPr>
          <p:cNvSpPr txBox="1">
            <a:spLocks/>
          </p:cNvSpPr>
          <p:nvPr/>
        </p:nvSpPr>
        <p:spPr>
          <a:xfrm>
            <a:off x="6726103" y="2007476"/>
            <a:ext cx="4627697" cy="36050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20000"/>
              </a:lnSpc>
              <a:buNone/>
            </a:pPr>
            <a:r>
              <a:rPr lang="en-US" sz="3500" dirty="0">
                <a:solidFill>
                  <a:schemeClr val="tx1"/>
                </a:solidFill>
              </a:rPr>
              <a:t>IMPLICATIONS</a:t>
            </a:r>
          </a:p>
          <a:p>
            <a:pPr marL="0" indent="0" algn="just">
              <a:lnSpc>
                <a:spcPct val="100000"/>
              </a:lnSpc>
              <a:buNone/>
            </a:pPr>
            <a:r>
              <a:rPr lang="en-US" sz="1700" dirty="0">
                <a:solidFill>
                  <a:schemeClr val="tx1"/>
                </a:solidFill>
              </a:rPr>
              <a:t>This chart represents salary data collected through web scraping. </a:t>
            </a:r>
          </a:p>
          <a:p>
            <a:pPr marL="0" indent="0" algn="just">
              <a:lnSpc>
                <a:spcPct val="100000"/>
              </a:lnSpc>
              <a:buNone/>
            </a:pPr>
            <a:endParaRPr lang="en-US" sz="1700" dirty="0">
              <a:solidFill>
                <a:schemeClr val="tx1"/>
              </a:solidFill>
            </a:endParaRPr>
          </a:p>
          <a:p>
            <a:pPr marL="0" indent="0" algn="just">
              <a:lnSpc>
                <a:spcPct val="100000"/>
              </a:lnSpc>
              <a:buNone/>
            </a:pPr>
            <a:r>
              <a:rPr lang="en-US" sz="1700" dirty="0">
                <a:solidFill>
                  <a:schemeClr val="tx1"/>
                </a:solidFill>
              </a:rPr>
              <a:t>The data was cleaned and processed using Python (Pandas/</a:t>
            </a:r>
            <a:r>
              <a:rPr lang="en-US" sz="1700" dirty="0" err="1">
                <a:solidFill>
                  <a:schemeClr val="tx1"/>
                </a:solidFill>
              </a:rPr>
              <a:t>BeautifulSoup</a:t>
            </a:r>
            <a:r>
              <a:rPr lang="en-US" sz="1700" dirty="0">
                <a:solidFill>
                  <a:schemeClr val="tx1"/>
                </a:solidFill>
              </a:rPr>
              <a:t>) and visualized in descending order to highlight the most lucrative programming languages in the current job market.</a:t>
            </a:r>
          </a:p>
          <a:p>
            <a:pPr marL="0" indent="0" algn="ctr">
              <a:lnSpc>
                <a:spcPct val="120000"/>
              </a:lnSpc>
              <a:buNone/>
            </a:pPr>
            <a:endParaRPr lang="en-US" sz="1600" dirty="0">
              <a:solidFill>
                <a:schemeClr val="tx1"/>
              </a:solidFill>
            </a:endParaRPr>
          </a:p>
        </p:txBody>
      </p:sp>
    </p:spTree>
    <p:custDataLst>
      <p:tags r:id="rId1"/>
    </p:custDataLst>
    <p:extLst>
      <p:ext uri="{BB962C8B-B14F-4D97-AF65-F5344CB8AC3E}">
        <p14:creationId xmlns:p14="http://schemas.microsoft.com/office/powerpoint/2010/main" val="4186606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914399" y="428768"/>
            <a:ext cx="10515600" cy="1325563"/>
          </a:xfrm>
        </p:spPr>
        <p:txBody>
          <a:bodyPr/>
          <a:lstStyle/>
          <a:p>
            <a:pPr algn="ctr"/>
            <a:r>
              <a:rPr lang="en-US" dirty="0"/>
              <a:t>DATABASE TRENDS</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pic>
        <p:nvPicPr>
          <p:cNvPr id="9" name="Imagen 8">
            <a:extLst>
              <a:ext uri="{FF2B5EF4-FFF2-40B4-BE49-F238E27FC236}">
                <a16:creationId xmlns:a16="http://schemas.microsoft.com/office/drawing/2014/main" id="{2330FEE8-E9DE-D0F8-BF6C-5BED34D630C0}"/>
              </a:ext>
            </a:extLst>
          </p:cNvPr>
          <p:cNvPicPr>
            <a:picLocks noChangeAspect="1"/>
          </p:cNvPicPr>
          <p:nvPr/>
        </p:nvPicPr>
        <p:blipFill>
          <a:blip r:embed="rId3"/>
          <a:stretch>
            <a:fillRect/>
          </a:stretch>
        </p:blipFill>
        <p:spPr>
          <a:xfrm>
            <a:off x="294290" y="2665564"/>
            <a:ext cx="5318234" cy="3451456"/>
          </a:xfrm>
          <a:prstGeom prst="rect">
            <a:avLst/>
          </a:prstGeom>
        </p:spPr>
      </p:pic>
      <p:pic>
        <p:nvPicPr>
          <p:cNvPr id="13" name="Imagen 12">
            <a:extLst>
              <a:ext uri="{FF2B5EF4-FFF2-40B4-BE49-F238E27FC236}">
                <a16:creationId xmlns:a16="http://schemas.microsoft.com/office/drawing/2014/main" id="{EEE206A0-8C8B-0E3A-B8FD-92FB3DFC884E}"/>
              </a:ext>
            </a:extLst>
          </p:cNvPr>
          <p:cNvPicPr>
            <a:picLocks noChangeAspect="1"/>
          </p:cNvPicPr>
          <p:nvPr/>
        </p:nvPicPr>
        <p:blipFill>
          <a:blip r:embed="rId4"/>
          <a:stretch>
            <a:fillRect/>
          </a:stretch>
        </p:blipFill>
        <p:spPr>
          <a:xfrm>
            <a:off x="5832524" y="2574495"/>
            <a:ext cx="6359476" cy="3542525"/>
          </a:xfrm>
          <a:prstGeom prst="rect">
            <a:avLst/>
          </a:prstGeom>
        </p:spPr>
      </p:pic>
      <p:sp>
        <p:nvSpPr>
          <p:cNvPr id="11" name="TextBox 10">
            <a:extLst>
              <a:ext uri="{FF2B5EF4-FFF2-40B4-BE49-F238E27FC236}">
                <a16:creationId xmlns:a16="http://schemas.microsoft.com/office/drawing/2014/main" id="{3B425FFE-0922-199D-763B-5CE3F48FDDB9}"/>
              </a:ext>
            </a:extLst>
          </p:cNvPr>
          <p:cNvSpPr txBox="1"/>
          <p:nvPr/>
        </p:nvSpPr>
        <p:spPr>
          <a:xfrm>
            <a:off x="2855882" y="1448063"/>
            <a:ext cx="6632633" cy="461665"/>
          </a:xfrm>
          <a:prstGeom prst="rect">
            <a:avLst/>
          </a:prstGeom>
          <a:noFill/>
        </p:spPr>
        <p:txBody>
          <a:bodyPr wrap="square" rtlCol="0">
            <a:spAutoFit/>
          </a:bodyPr>
          <a:lstStyle/>
          <a:p>
            <a:pPr algn="ctr"/>
            <a:r>
              <a:rPr lang="en-US" sz="2400" dirty="0"/>
              <a:t>Summarize key trends shown in the charts.</a:t>
            </a:r>
          </a:p>
        </p:txBody>
      </p:sp>
      <p:sp>
        <p:nvSpPr>
          <p:cNvPr id="15" name="Content Placeholder 2">
            <a:extLst>
              <a:ext uri="{FF2B5EF4-FFF2-40B4-BE49-F238E27FC236}">
                <a16:creationId xmlns:a16="http://schemas.microsoft.com/office/drawing/2014/main" id="{6642741B-E566-88FD-452D-C902A89B0B6D}"/>
              </a:ext>
            </a:extLst>
          </p:cNvPr>
          <p:cNvSpPr>
            <a:spLocks noGrp="1"/>
          </p:cNvSpPr>
          <p:nvPr>
            <p:ph sz="half" idx="1"/>
          </p:nvPr>
        </p:nvSpPr>
        <p:spPr>
          <a:xfrm>
            <a:off x="2038626" y="2072557"/>
            <a:ext cx="2228642" cy="501939"/>
          </a:xfrm>
        </p:spPr>
        <p:txBody>
          <a:bodyPr/>
          <a:lstStyle/>
          <a:p>
            <a:pPr marL="0" indent="0">
              <a:buNone/>
            </a:pPr>
            <a:r>
              <a:rPr lang="en-US" dirty="0"/>
              <a:t>Current Year</a:t>
            </a:r>
          </a:p>
        </p:txBody>
      </p:sp>
      <p:sp>
        <p:nvSpPr>
          <p:cNvPr id="18" name="Content Placeholder 3">
            <a:extLst>
              <a:ext uri="{FF2B5EF4-FFF2-40B4-BE49-F238E27FC236}">
                <a16:creationId xmlns:a16="http://schemas.microsoft.com/office/drawing/2014/main" id="{1982EE14-CFE7-9A07-B88F-1815C8C0E37A}"/>
              </a:ext>
            </a:extLst>
          </p:cNvPr>
          <p:cNvSpPr>
            <a:spLocks noGrp="1"/>
          </p:cNvSpPr>
          <p:nvPr>
            <p:ph sz="half" idx="2"/>
          </p:nvPr>
        </p:nvSpPr>
        <p:spPr>
          <a:xfrm>
            <a:off x="8130645" y="2072557"/>
            <a:ext cx="1758142" cy="501939"/>
          </a:xfrm>
        </p:spPr>
        <p:txBody>
          <a:bodyPr/>
          <a:lstStyle/>
          <a:p>
            <a:pPr marL="0" indent="0">
              <a:buNone/>
            </a:pPr>
            <a:r>
              <a:rPr lang="en-US" dirty="0"/>
              <a:t>Next Year</a:t>
            </a:r>
          </a:p>
        </p:txBody>
      </p:sp>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8" name="Rectangle 2">
            <a:extLst>
              <a:ext uri="{FF2B5EF4-FFF2-40B4-BE49-F238E27FC236}">
                <a16:creationId xmlns:a16="http://schemas.microsoft.com/office/drawing/2014/main" id="{C00CEBDD-752D-A2F1-3172-B9846C890824}"/>
              </a:ext>
            </a:extLst>
          </p:cNvPr>
          <p:cNvSpPr>
            <a:spLocks noChangeArrowheads="1"/>
          </p:cNvSpPr>
          <p:nvPr/>
        </p:nvSpPr>
        <p:spPr bwMode="auto">
          <a:xfrm>
            <a:off x="24385" y="-76573"/>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8ADB3751-CF1E-0630-A6FE-D46DC47EF6D7}"/>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ES" altLang="es-ES" sz="1800" b="0" i="0" u="none" strike="noStrike" cap="none" normalizeH="0" baseline="0" dirty="0">
                <a:ln>
                  <a:noFill/>
                </a:ln>
                <a:solidFill>
                  <a:schemeClr val="tx1"/>
                </a:solidFill>
                <a:effectLst/>
                <a:latin typeface="Arial" panose="020B0604020202020204" pitchFamily="34" charset="0"/>
              </a:rPr>
              <a:t>.</a:t>
            </a:r>
          </a:p>
        </p:txBody>
      </p:sp>
      <p:sp>
        <p:nvSpPr>
          <p:cNvPr id="10" name="Content Placeholder 2">
            <a:extLst>
              <a:ext uri="{FF2B5EF4-FFF2-40B4-BE49-F238E27FC236}">
                <a16:creationId xmlns:a16="http://schemas.microsoft.com/office/drawing/2014/main" id="{BD826F76-6D8A-5080-37E0-72CD97440B82}"/>
              </a:ext>
            </a:extLst>
          </p:cNvPr>
          <p:cNvSpPr txBox="1">
            <a:spLocks/>
          </p:cNvSpPr>
          <p:nvPr/>
        </p:nvSpPr>
        <p:spPr>
          <a:xfrm>
            <a:off x="838201" y="1986455"/>
            <a:ext cx="4627697" cy="360504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20000"/>
              </a:lnSpc>
              <a:buNone/>
            </a:pPr>
            <a:r>
              <a:rPr lang="en-US" sz="3800" dirty="0">
                <a:solidFill>
                  <a:schemeClr val="tx1"/>
                </a:solidFill>
              </a:rPr>
              <a:t>FINDINGS</a:t>
            </a:r>
          </a:p>
          <a:p>
            <a:pPr algn="just">
              <a:lnSpc>
                <a:spcPct val="110000"/>
              </a:lnSpc>
            </a:pPr>
            <a:r>
              <a:rPr lang="en-US" sz="2400" b="1" dirty="0">
                <a:solidFill>
                  <a:schemeClr val="tx1"/>
                </a:solidFill>
              </a:rPr>
              <a:t>Finding 1 : </a:t>
            </a:r>
            <a:r>
              <a:rPr lang="en-US" sz="2400" dirty="0">
                <a:solidFill>
                  <a:schemeClr val="tx1"/>
                </a:solidFill>
              </a:rPr>
              <a:t>Young adult dominance</a:t>
            </a:r>
          </a:p>
          <a:p>
            <a:pPr marL="0" indent="0" algn="just">
              <a:lnSpc>
                <a:spcPct val="110000"/>
              </a:lnSpc>
              <a:buNone/>
            </a:pPr>
            <a:endParaRPr lang="en-US" sz="2400" dirty="0">
              <a:solidFill>
                <a:schemeClr val="tx1"/>
              </a:solidFill>
            </a:endParaRPr>
          </a:p>
          <a:p>
            <a:pPr algn="just">
              <a:lnSpc>
                <a:spcPct val="110000"/>
              </a:lnSpc>
            </a:pPr>
            <a:r>
              <a:rPr lang="en-US" sz="2400" b="1" dirty="0">
                <a:solidFill>
                  <a:schemeClr val="tx1"/>
                </a:solidFill>
              </a:rPr>
              <a:t>Finding 2 : </a:t>
            </a:r>
            <a:r>
              <a:rPr lang="en-US" sz="2400" dirty="0">
                <a:solidFill>
                  <a:schemeClr val="tx1"/>
                </a:solidFill>
              </a:rPr>
              <a:t>Steady annual aging</a:t>
            </a:r>
          </a:p>
          <a:p>
            <a:pPr marL="0" indent="0" algn="just">
              <a:lnSpc>
                <a:spcPct val="110000"/>
              </a:lnSpc>
              <a:buNone/>
            </a:pPr>
            <a:endParaRPr lang="en-US" sz="2400" dirty="0">
              <a:solidFill>
                <a:schemeClr val="tx1"/>
              </a:solidFill>
            </a:endParaRPr>
          </a:p>
          <a:p>
            <a:pPr algn="just">
              <a:lnSpc>
                <a:spcPct val="110000"/>
              </a:lnSpc>
            </a:pPr>
            <a:r>
              <a:rPr lang="en-US" sz="2400" b="1" dirty="0">
                <a:solidFill>
                  <a:schemeClr val="tx1"/>
                </a:solidFill>
              </a:rPr>
              <a:t>Finding 3 : </a:t>
            </a:r>
            <a:r>
              <a:rPr lang="en-US" sz="2400" dirty="0">
                <a:solidFill>
                  <a:schemeClr val="tx1"/>
                </a:solidFill>
              </a:rPr>
              <a:t>Skewed age distribution</a:t>
            </a:r>
          </a:p>
        </p:txBody>
      </p:sp>
      <p:sp>
        <p:nvSpPr>
          <p:cNvPr id="14" name="Content Placeholder 2">
            <a:extLst>
              <a:ext uri="{FF2B5EF4-FFF2-40B4-BE49-F238E27FC236}">
                <a16:creationId xmlns:a16="http://schemas.microsoft.com/office/drawing/2014/main" id="{ECB806F0-957B-24A1-99BB-361CB53F44BF}"/>
              </a:ext>
            </a:extLst>
          </p:cNvPr>
          <p:cNvSpPr txBox="1">
            <a:spLocks/>
          </p:cNvSpPr>
          <p:nvPr/>
        </p:nvSpPr>
        <p:spPr>
          <a:xfrm>
            <a:off x="6463393" y="1986455"/>
            <a:ext cx="4890406" cy="36050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20000"/>
              </a:lnSpc>
              <a:buNone/>
            </a:pPr>
            <a:r>
              <a:rPr lang="en-US" sz="3500" dirty="0">
                <a:solidFill>
                  <a:schemeClr val="tx1"/>
                </a:solidFill>
              </a:rPr>
              <a:t>IMPLICATIONS</a:t>
            </a:r>
          </a:p>
          <a:p>
            <a:pPr>
              <a:lnSpc>
                <a:spcPct val="110000"/>
              </a:lnSpc>
            </a:pPr>
            <a:r>
              <a:rPr lang="en-US" sz="2200" b="1" dirty="0">
                <a:solidFill>
                  <a:schemeClr val="tx1"/>
                </a:solidFill>
              </a:rPr>
              <a:t>Implication 1 : </a:t>
            </a:r>
            <a:r>
              <a:rPr lang="en-US" sz="2200" dirty="0">
                <a:solidFill>
                  <a:schemeClr val="tx1"/>
                </a:solidFill>
              </a:rPr>
              <a:t>Target youth marketing</a:t>
            </a:r>
          </a:p>
          <a:p>
            <a:pPr>
              <a:lnSpc>
                <a:spcPct val="110000"/>
              </a:lnSpc>
            </a:pPr>
            <a:endParaRPr lang="en-US" sz="2200" dirty="0">
              <a:solidFill>
                <a:schemeClr val="tx1"/>
              </a:solidFill>
            </a:endParaRPr>
          </a:p>
          <a:p>
            <a:pPr>
              <a:lnSpc>
                <a:spcPct val="110000"/>
              </a:lnSpc>
            </a:pPr>
            <a:r>
              <a:rPr lang="en-US" sz="2200" b="1" dirty="0">
                <a:solidFill>
                  <a:schemeClr val="tx1"/>
                </a:solidFill>
              </a:rPr>
              <a:t>Finding 2 : </a:t>
            </a:r>
            <a:r>
              <a:rPr lang="en-US" sz="2200" dirty="0">
                <a:solidFill>
                  <a:schemeClr val="tx1"/>
                </a:solidFill>
              </a:rPr>
              <a:t>Long-term retention focus</a:t>
            </a:r>
          </a:p>
          <a:p>
            <a:pPr>
              <a:lnSpc>
                <a:spcPct val="110000"/>
              </a:lnSpc>
            </a:pPr>
            <a:endParaRPr lang="en-US" sz="2200" dirty="0">
              <a:solidFill>
                <a:schemeClr val="tx1"/>
              </a:solidFill>
            </a:endParaRPr>
          </a:p>
          <a:p>
            <a:pPr>
              <a:lnSpc>
                <a:spcPct val="110000"/>
              </a:lnSpc>
            </a:pPr>
            <a:r>
              <a:rPr lang="en-US" sz="2200" b="1" dirty="0">
                <a:solidFill>
                  <a:schemeClr val="tx1"/>
                </a:solidFill>
              </a:rPr>
              <a:t>Finding 3 : </a:t>
            </a:r>
            <a:r>
              <a:rPr lang="en-US" sz="2200" dirty="0">
                <a:solidFill>
                  <a:schemeClr val="tx1"/>
                </a:solidFill>
              </a:rPr>
              <a:t>Need for user acquisition</a:t>
            </a:r>
          </a:p>
        </p:txBody>
      </p:sp>
    </p:spTree>
    <p:custDataLst>
      <p:tags r:id="rId1"/>
    </p:custDataLst>
    <p:extLst>
      <p:ext uri="{BB962C8B-B14F-4D97-AF65-F5344CB8AC3E}">
        <p14:creationId xmlns:p14="http://schemas.microsoft.com/office/powerpoint/2010/main" val="876024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pPr algn="ctr"/>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64755" y="2847570"/>
            <a:ext cx="692140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
        <p:nvSpPr>
          <p:cNvPr id="6" name="TextBox 5">
            <a:extLst>
              <a:ext uri="{FF2B5EF4-FFF2-40B4-BE49-F238E27FC236}">
                <a16:creationId xmlns:a16="http://schemas.microsoft.com/office/drawing/2014/main" id="{57E8E3DD-C6B2-B409-A6F0-D9E80BFBDAAF}"/>
              </a:ext>
            </a:extLst>
          </p:cNvPr>
          <p:cNvSpPr txBox="1"/>
          <p:nvPr/>
        </p:nvSpPr>
        <p:spPr>
          <a:xfrm>
            <a:off x="4131836" y="2847570"/>
            <a:ext cx="8018780" cy="646331"/>
          </a:xfrm>
          <a:prstGeom prst="rect">
            <a:avLst/>
          </a:prstGeom>
          <a:noFill/>
        </p:spPr>
        <p:txBody>
          <a:bodyPr wrap="square">
            <a:spAutoFit/>
          </a:bodyPr>
          <a:lstStyle/>
          <a:p>
            <a:r>
              <a:rPr lang="en-NL" dirty="0"/>
              <a:t>https://datastudio.google.com/u/0/reporting/3cad7e05-d234-4467-a3d9-f34f0cb4ae28/page/p_3q3qbyrz2d</a:t>
            </a:r>
          </a:p>
        </p:txBody>
      </p:sp>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pPr algn="ctr"/>
            <a:r>
              <a:rPr lang="en-US" dirty="0"/>
              <a:t>DASHBOARD TAB 1</a:t>
            </a:r>
          </a:p>
        </p:txBody>
      </p:sp>
      <p:sp>
        <p:nvSpPr>
          <p:cNvPr id="13" name="Content Placeholder 2">
            <a:extLst>
              <a:ext uri="{FF2B5EF4-FFF2-40B4-BE49-F238E27FC236}">
                <a16:creationId xmlns:a16="http://schemas.microsoft.com/office/drawing/2014/main" id="{84610361-03CA-70DC-6266-0830E931DD48}"/>
              </a:ext>
            </a:extLst>
          </p:cNvPr>
          <p:cNvSpPr txBox="1">
            <a:spLocks/>
          </p:cNvSpPr>
          <p:nvPr/>
        </p:nvSpPr>
        <p:spPr>
          <a:xfrm>
            <a:off x="7898525" y="2785470"/>
            <a:ext cx="3814800" cy="20869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a:lnSpc>
                <a:spcPct val="120000"/>
              </a:lnSpc>
            </a:pPr>
            <a:r>
              <a:rPr lang="en-US" sz="1400" b="1" dirty="0">
                <a:solidFill>
                  <a:schemeClr val="tx1"/>
                </a:solidFill>
              </a:rPr>
              <a:t>Dominant Languages: </a:t>
            </a:r>
            <a:r>
              <a:rPr lang="en-US" sz="1400" dirty="0">
                <a:solidFill>
                  <a:schemeClr val="tx1"/>
                </a:solidFill>
              </a:rPr>
              <a:t>Development is currently led by C#, TypeScript, and Python, which account for the highest volume of active usage in the surveyed group.</a:t>
            </a:r>
          </a:p>
          <a:p>
            <a:pPr algn="just">
              <a:lnSpc>
                <a:spcPct val="120000"/>
              </a:lnSpc>
            </a:pPr>
            <a:r>
              <a:rPr lang="en-US" sz="1400" b="1" dirty="0">
                <a:solidFill>
                  <a:schemeClr val="tx1"/>
                </a:solidFill>
              </a:rPr>
              <a:t>Database Market Share: </a:t>
            </a:r>
            <a:r>
              <a:rPr lang="en-US" sz="1400" dirty="0">
                <a:solidFill>
                  <a:schemeClr val="tx1"/>
                </a:solidFill>
              </a:rPr>
              <a:t>MySQL is the clear leader in data storage, currently holding 25% of the total market share among respondents.</a:t>
            </a:r>
          </a:p>
        </p:txBody>
      </p:sp>
      <p:pic>
        <p:nvPicPr>
          <p:cNvPr id="16" name="Picture 15" descr="A blue pie chart and a blue pie chart&#10;&#10;AI-generated content may be incorrect.">
            <a:extLst>
              <a:ext uri="{FF2B5EF4-FFF2-40B4-BE49-F238E27FC236}">
                <a16:creationId xmlns:a16="http://schemas.microsoft.com/office/drawing/2014/main" id="{62A7E166-155B-C04C-3590-0EDD263CEC6A}"/>
              </a:ext>
            </a:extLst>
          </p:cNvPr>
          <p:cNvPicPr>
            <a:picLocks noChangeAspect="1"/>
          </p:cNvPicPr>
          <p:nvPr/>
        </p:nvPicPr>
        <p:blipFill>
          <a:blip r:embed="rId4"/>
          <a:stretch>
            <a:fillRect/>
          </a:stretch>
        </p:blipFill>
        <p:spPr>
          <a:xfrm>
            <a:off x="126125" y="1450428"/>
            <a:ext cx="7772400" cy="4516786"/>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pPr algn="ctr"/>
            <a:r>
              <a:rPr lang="en-US" dirty="0"/>
              <a:t>DASHBOARD TAB 2</a:t>
            </a:r>
          </a:p>
        </p:txBody>
      </p:sp>
      <p:pic>
        <p:nvPicPr>
          <p:cNvPr id="6" name="Picture 5">
            <a:extLst>
              <a:ext uri="{FF2B5EF4-FFF2-40B4-BE49-F238E27FC236}">
                <a16:creationId xmlns:a16="http://schemas.microsoft.com/office/drawing/2014/main" id="{466E3738-22BF-31AA-A74E-D6CE12BBB3DF}"/>
              </a:ext>
            </a:extLst>
          </p:cNvPr>
          <p:cNvPicPr>
            <a:picLocks noChangeAspect="1"/>
          </p:cNvPicPr>
          <p:nvPr/>
        </p:nvPicPr>
        <p:blipFill>
          <a:blip r:embed="rId3"/>
          <a:srcRect/>
          <a:stretch/>
        </p:blipFill>
        <p:spPr>
          <a:xfrm>
            <a:off x="126125" y="1539578"/>
            <a:ext cx="7772400" cy="4338485"/>
          </a:xfrm>
          <a:prstGeom prst="rect">
            <a:avLst/>
          </a:prstGeom>
        </p:spPr>
      </p:pic>
      <p:sp>
        <p:nvSpPr>
          <p:cNvPr id="7" name="Content Placeholder 2">
            <a:extLst>
              <a:ext uri="{FF2B5EF4-FFF2-40B4-BE49-F238E27FC236}">
                <a16:creationId xmlns:a16="http://schemas.microsoft.com/office/drawing/2014/main" id="{B7938475-4D97-34C6-EADD-B2E3B2B7E775}"/>
              </a:ext>
            </a:extLst>
          </p:cNvPr>
          <p:cNvSpPr txBox="1">
            <a:spLocks/>
          </p:cNvSpPr>
          <p:nvPr/>
        </p:nvSpPr>
        <p:spPr>
          <a:xfrm>
            <a:off x="7898525" y="2625281"/>
            <a:ext cx="3814800" cy="23181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a:lnSpc>
                <a:spcPct val="120000"/>
              </a:lnSpc>
            </a:pPr>
            <a:r>
              <a:rPr lang="en-US" sz="1400" dirty="0">
                <a:solidFill>
                  <a:schemeClr val="tx1"/>
                </a:solidFill>
              </a:rPr>
              <a:t>Future interest aligns closely with current leaders, as </a:t>
            </a:r>
            <a:r>
              <a:rPr lang="en-US" sz="1400" b="1" dirty="0">
                <a:solidFill>
                  <a:schemeClr val="tx1"/>
                </a:solidFill>
              </a:rPr>
              <a:t>C# and Python </a:t>
            </a:r>
            <a:r>
              <a:rPr lang="en-US" sz="1400" dirty="0">
                <a:solidFill>
                  <a:schemeClr val="tx1"/>
                </a:solidFill>
              </a:rPr>
              <a:t>remain top choices for developers looking to expand their skill sets. </a:t>
            </a:r>
          </a:p>
          <a:p>
            <a:pPr algn="just">
              <a:lnSpc>
                <a:spcPct val="120000"/>
              </a:lnSpc>
            </a:pPr>
            <a:r>
              <a:rPr lang="en-US" sz="1400" dirty="0">
                <a:solidFill>
                  <a:schemeClr val="tx1"/>
                </a:solidFill>
              </a:rPr>
              <a:t>There is a significant projected shift toward </a:t>
            </a:r>
            <a:r>
              <a:rPr lang="en-US" sz="1400" b="1" dirty="0">
                <a:solidFill>
                  <a:schemeClr val="tx1"/>
                </a:solidFill>
              </a:rPr>
              <a:t>PostgreSQ</a:t>
            </a:r>
            <a:r>
              <a:rPr lang="en-US" sz="1400" dirty="0">
                <a:solidFill>
                  <a:schemeClr val="tx1"/>
                </a:solidFill>
              </a:rPr>
              <a:t>L, which captures </a:t>
            </a:r>
            <a:r>
              <a:rPr lang="en-US" sz="1400" b="1" dirty="0">
                <a:solidFill>
                  <a:schemeClr val="tx1"/>
                </a:solidFill>
              </a:rPr>
              <a:t>28.6%</a:t>
            </a:r>
            <a:r>
              <a:rPr lang="en-US" sz="1400" dirty="0">
                <a:solidFill>
                  <a:schemeClr val="tx1"/>
                </a:solidFill>
              </a:rPr>
              <a:t> of future interest, indicating it is the most desired database technology for upcoming projects.</a:t>
            </a:r>
          </a:p>
        </p:txBody>
      </p:sp>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pPr algn="ctr"/>
            <a:r>
              <a:rPr lang="en-US" dirty="0"/>
              <a:t>DASHBOARD TAB 3</a:t>
            </a:r>
          </a:p>
        </p:txBody>
      </p:sp>
      <p:pic>
        <p:nvPicPr>
          <p:cNvPr id="6" name="Picture 5">
            <a:extLst>
              <a:ext uri="{FF2B5EF4-FFF2-40B4-BE49-F238E27FC236}">
                <a16:creationId xmlns:a16="http://schemas.microsoft.com/office/drawing/2014/main" id="{743C56C0-C2BC-7C33-8CCB-D5F07BDE1DA9}"/>
              </a:ext>
            </a:extLst>
          </p:cNvPr>
          <p:cNvPicPr>
            <a:picLocks noChangeAspect="1"/>
          </p:cNvPicPr>
          <p:nvPr/>
        </p:nvPicPr>
        <p:blipFill>
          <a:blip r:embed="rId3"/>
          <a:srcRect/>
          <a:stretch/>
        </p:blipFill>
        <p:spPr>
          <a:xfrm>
            <a:off x="126125" y="1543775"/>
            <a:ext cx="7772400" cy="4330091"/>
          </a:xfrm>
          <a:prstGeom prst="rect">
            <a:avLst/>
          </a:prstGeom>
        </p:spPr>
      </p:pic>
      <p:sp>
        <p:nvSpPr>
          <p:cNvPr id="7" name="Content Placeholder 2">
            <a:extLst>
              <a:ext uri="{FF2B5EF4-FFF2-40B4-BE49-F238E27FC236}">
                <a16:creationId xmlns:a16="http://schemas.microsoft.com/office/drawing/2014/main" id="{082F3675-ADDD-F95D-709A-675227B77B5A}"/>
              </a:ext>
            </a:extLst>
          </p:cNvPr>
          <p:cNvSpPr txBox="1">
            <a:spLocks/>
          </p:cNvSpPr>
          <p:nvPr/>
        </p:nvSpPr>
        <p:spPr>
          <a:xfrm>
            <a:off x="7896247" y="2865141"/>
            <a:ext cx="3814800" cy="18329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a:lnSpc>
                <a:spcPct val="120000"/>
              </a:lnSpc>
            </a:pPr>
            <a:r>
              <a:rPr lang="en-US" sz="1400" b="1" dirty="0">
                <a:solidFill>
                  <a:schemeClr val="tx1"/>
                </a:solidFill>
              </a:rPr>
              <a:t>Employment Trend: </a:t>
            </a:r>
            <a:r>
              <a:rPr lang="en-US" sz="1400" dirty="0">
                <a:solidFill>
                  <a:schemeClr val="tx1"/>
                </a:solidFill>
              </a:rPr>
              <a:t>Over </a:t>
            </a:r>
            <a:r>
              <a:rPr lang="en-US" sz="1400" b="1" dirty="0">
                <a:solidFill>
                  <a:schemeClr val="tx1"/>
                </a:solidFill>
              </a:rPr>
              <a:t>81% </a:t>
            </a:r>
            <a:r>
              <a:rPr lang="en-US" sz="1400" dirty="0">
                <a:solidFill>
                  <a:schemeClr val="tx1"/>
                </a:solidFill>
              </a:rPr>
              <a:t>of respondents are employed full-time, showing a highly active professional workforce. </a:t>
            </a:r>
          </a:p>
          <a:p>
            <a:pPr algn="just">
              <a:lnSpc>
                <a:spcPct val="120000"/>
              </a:lnSpc>
            </a:pPr>
            <a:r>
              <a:rPr lang="en-GB" sz="1400" b="1" dirty="0">
                <a:solidFill>
                  <a:schemeClr val="tx1"/>
                </a:solidFill>
              </a:rPr>
              <a:t>Educational Background:</a:t>
            </a:r>
            <a:r>
              <a:rPr lang="en-GB" sz="1400" dirty="0">
                <a:solidFill>
                  <a:schemeClr val="tx1"/>
                </a:solidFill>
              </a:rPr>
              <a:t> Nearly half of the participants (</a:t>
            </a:r>
            <a:r>
              <a:rPr lang="en-GB" sz="1400" b="1" dirty="0">
                <a:solidFill>
                  <a:schemeClr val="tx1"/>
                </a:solidFill>
              </a:rPr>
              <a:t>46.8%</a:t>
            </a:r>
            <a:r>
              <a:rPr lang="en-GB" sz="1400" dirty="0">
                <a:solidFill>
                  <a:schemeClr val="tx1"/>
                </a:solidFill>
              </a:rPr>
              <a:t>) hold a Bachelor's degree, followed by </a:t>
            </a:r>
            <a:r>
              <a:rPr lang="en-GB" sz="1400" b="1" dirty="0">
                <a:solidFill>
                  <a:schemeClr val="tx1"/>
                </a:solidFill>
              </a:rPr>
              <a:t>25.3%</a:t>
            </a:r>
            <a:r>
              <a:rPr lang="en-GB" sz="1400" dirty="0">
                <a:solidFill>
                  <a:schemeClr val="tx1"/>
                </a:solidFill>
              </a:rPr>
              <a:t> with a Master's degree.</a:t>
            </a:r>
            <a:endParaRPr lang="en-US" sz="1400" dirty="0">
              <a:solidFill>
                <a:schemeClr val="tx1"/>
              </a:solidFill>
            </a:endParaRPr>
          </a:p>
        </p:txBody>
      </p:sp>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253331" y="1825625"/>
            <a:ext cx="4351338" cy="4351338"/>
          </a:xfrm>
          <a:prstGeom prst="rect">
            <a:avLst/>
          </a:prstGeom>
          <a:noFill/>
        </p:spPr>
      </p:pic>
      <p:sp>
        <p:nvSpPr>
          <p:cNvPr id="7" name="Content Placeholder 2">
            <a:extLst>
              <a:ext uri="{FF2B5EF4-FFF2-40B4-BE49-F238E27FC236}">
                <a16:creationId xmlns:a16="http://schemas.microsoft.com/office/drawing/2014/main" id="{62C3610C-DED3-C900-51DA-4DA9AEB1A75C}"/>
              </a:ext>
            </a:extLst>
          </p:cNvPr>
          <p:cNvSpPr txBox="1">
            <a:spLocks/>
          </p:cNvSpPr>
          <p:nvPr/>
        </p:nvSpPr>
        <p:spPr>
          <a:xfrm>
            <a:off x="5885793" y="1447800"/>
            <a:ext cx="5184228" cy="50450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just">
              <a:lnSpc>
                <a:spcPct val="120000"/>
              </a:lnSpc>
            </a:pPr>
            <a:r>
              <a:rPr lang="en-US" sz="1400" b="1" dirty="0">
                <a:solidFill>
                  <a:schemeClr val="tx1"/>
                </a:solidFill>
              </a:rPr>
              <a:t>The Baseline: </a:t>
            </a:r>
            <a:r>
              <a:rPr lang="en-US" sz="1400" dirty="0">
                <a:solidFill>
                  <a:schemeClr val="tx1"/>
                </a:solidFill>
              </a:rPr>
              <a:t>Right now, the industry is built on a very solid foundation. Most of the developers we surveyed are sticking with "tried and true" tools like C# and Python, and MySQL is still the go-to for databases. It shows that while new tech gets a lot of hype, these core languages are what actually get work done in most companies.</a:t>
            </a:r>
          </a:p>
          <a:p>
            <a:pPr algn="just">
              <a:lnSpc>
                <a:spcPct val="120000"/>
              </a:lnSpc>
            </a:pPr>
            <a:r>
              <a:rPr lang="en-US" sz="1400" b="1" dirty="0">
                <a:solidFill>
                  <a:schemeClr val="tx1"/>
                </a:solidFill>
              </a:rPr>
              <a:t>The Move Toward PostgreSQL: </a:t>
            </a:r>
            <a:r>
              <a:rPr lang="en-US" sz="1400" dirty="0">
                <a:solidFill>
                  <a:schemeClr val="tx1"/>
                </a:solidFill>
              </a:rPr>
              <a:t>One of the most interesting takeaways is the clear shift toward PostgreSQL in the "Future Trends" section. Even though MySQL leads today, developers are clearly looking for something more robust for their next projects. It feels like the community is gravitating toward it as the modern standard for relational data.</a:t>
            </a:r>
          </a:p>
          <a:p>
            <a:pPr algn="just">
              <a:lnSpc>
                <a:spcPct val="120000"/>
              </a:lnSpc>
            </a:pPr>
            <a:r>
              <a:rPr lang="en-US" sz="1400" b="1" dirty="0">
                <a:solidFill>
                  <a:schemeClr val="tx1"/>
                </a:solidFill>
              </a:rPr>
              <a:t>A Professional Workforce: </a:t>
            </a:r>
            <a:r>
              <a:rPr lang="en-US" sz="1400" dirty="0">
                <a:solidFill>
                  <a:schemeClr val="tx1"/>
                </a:solidFill>
              </a:rPr>
              <a:t>It’s important to note that this isn't just a hobbyist group. Over 80% of the people in this data are full-time professionals, and most have a Bachelor’s or Master’s degree. This means the trends we’re seeing are coming from experienced people who are making technical decisions in their daily jobs.</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lstStyle/>
          <a:p>
            <a:pPr algn="ctr"/>
            <a:r>
              <a:rPr lang="en-US" dirty="0"/>
              <a:t>OVERALL FINDINGS &amp; IMPLICATIONS</a:t>
            </a:r>
          </a:p>
        </p:txBody>
      </p:sp>
      <p:sp>
        <p:nvSpPr>
          <p:cNvPr id="7" name="Content Placeholder 2">
            <a:extLst>
              <a:ext uri="{FF2B5EF4-FFF2-40B4-BE49-F238E27FC236}">
                <a16:creationId xmlns:a16="http://schemas.microsoft.com/office/drawing/2014/main" id="{1C0FED3D-F985-77D9-9AA2-843158397B23}"/>
              </a:ext>
            </a:extLst>
          </p:cNvPr>
          <p:cNvSpPr txBox="1">
            <a:spLocks/>
          </p:cNvSpPr>
          <p:nvPr/>
        </p:nvSpPr>
        <p:spPr>
          <a:xfrm>
            <a:off x="838201" y="1986454"/>
            <a:ext cx="4890406" cy="4046483"/>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20000"/>
              </a:lnSpc>
              <a:buNone/>
            </a:pPr>
            <a:r>
              <a:rPr lang="en-US" sz="6300" dirty="0">
                <a:solidFill>
                  <a:schemeClr val="tx1"/>
                </a:solidFill>
              </a:rPr>
              <a:t>FINDINGS</a:t>
            </a:r>
          </a:p>
          <a:p>
            <a:pPr algn="just">
              <a:lnSpc>
                <a:spcPct val="120000"/>
              </a:lnSpc>
            </a:pPr>
            <a:r>
              <a:rPr lang="en-US" sz="3400" b="1" dirty="0">
                <a:solidFill>
                  <a:schemeClr val="tx1"/>
                </a:solidFill>
              </a:rPr>
              <a:t>Finding 1 : </a:t>
            </a:r>
            <a:r>
              <a:rPr lang="en-US" sz="3400" dirty="0">
                <a:solidFill>
                  <a:schemeClr val="tx1"/>
                </a:solidFill>
              </a:rPr>
              <a:t>High Developer Employment Over 80% of the respondents are employed full-time, rather than being students or hobbyists.</a:t>
            </a:r>
          </a:p>
          <a:p>
            <a:pPr algn="just">
              <a:lnSpc>
                <a:spcPct val="120000"/>
              </a:lnSpc>
            </a:pPr>
            <a:endParaRPr lang="en-US" sz="3400" dirty="0">
              <a:solidFill>
                <a:schemeClr val="tx1"/>
              </a:solidFill>
            </a:endParaRPr>
          </a:p>
          <a:p>
            <a:pPr algn="just">
              <a:lnSpc>
                <a:spcPct val="120000"/>
              </a:lnSpc>
            </a:pPr>
            <a:r>
              <a:rPr lang="en-US" sz="3400" b="1" dirty="0">
                <a:solidFill>
                  <a:schemeClr val="tx1"/>
                </a:solidFill>
              </a:rPr>
              <a:t>Finding 2 : </a:t>
            </a:r>
            <a:r>
              <a:rPr lang="en-US" sz="3400" dirty="0">
                <a:solidFill>
                  <a:schemeClr val="tx1"/>
                </a:solidFill>
              </a:rPr>
              <a:t>The PostgreSQL Surge While MySQL is currently the most used database, PostgreSQL is the top choice for future development.</a:t>
            </a:r>
          </a:p>
          <a:p>
            <a:pPr algn="just">
              <a:lnSpc>
                <a:spcPct val="120000"/>
              </a:lnSpc>
            </a:pPr>
            <a:endParaRPr lang="en-US" sz="3400" dirty="0">
              <a:solidFill>
                <a:schemeClr val="tx1"/>
              </a:solidFill>
            </a:endParaRPr>
          </a:p>
          <a:p>
            <a:pPr algn="just">
              <a:lnSpc>
                <a:spcPct val="120000"/>
              </a:lnSpc>
            </a:pPr>
            <a:r>
              <a:rPr lang="en-US" sz="3400" b="1" dirty="0">
                <a:solidFill>
                  <a:schemeClr val="tx1"/>
                </a:solidFill>
              </a:rPr>
              <a:t>Finding 3 : </a:t>
            </a:r>
            <a:r>
              <a:rPr lang="en-US" sz="3400" dirty="0">
                <a:solidFill>
                  <a:schemeClr val="tx1"/>
                </a:solidFill>
              </a:rPr>
              <a:t>Consistency in Languages Developer interest in core languages like Python and TypeScript remains extremely steady between current use and future desire.</a:t>
            </a:r>
          </a:p>
        </p:txBody>
      </p:sp>
      <p:sp>
        <p:nvSpPr>
          <p:cNvPr id="10" name="Content Placeholder 2">
            <a:extLst>
              <a:ext uri="{FF2B5EF4-FFF2-40B4-BE49-F238E27FC236}">
                <a16:creationId xmlns:a16="http://schemas.microsoft.com/office/drawing/2014/main" id="{D2FE0AAC-DBE1-D88A-C76F-D1C04197D4CB}"/>
              </a:ext>
            </a:extLst>
          </p:cNvPr>
          <p:cNvSpPr txBox="1">
            <a:spLocks/>
          </p:cNvSpPr>
          <p:nvPr/>
        </p:nvSpPr>
        <p:spPr>
          <a:xfrm>
            <a:off x="6463393" y="1986455"/>
            <a:ext cx="4890406" cy="4046482"/>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lnSpc>
                <a:spcPct val="120000"/>
              </a:lnSpc>
              <a:buNone/>
            </a:pPr>
            <a:r>
              <a:rPr lang="en-US" sz="3500" dirty="0">
                <a:solidFill>
                  <a:schemeClr val="tx1"/>
                </a:solidFill>
              </a:rPr>
              <a:t>IMPLICATIONS</a:t>
            </a:r>
          </a:p>
          <a:p>
            <a:pPr>
              <a:lnSpc>
                <a:spcPct val="120000"/>
              </a:lnSpc>
            </a:pPr>
            <a:r>
              <a:rPr lang="en-US" sz="2200" b="1" dirty="0">
                <a:solidFill>
                  <a:schemeClr val="tx1"/>
                </a:solidFill>
              </a:rPr>
              <a:t>Implication 1 : </a:t>
            </a:r>
            <a:r>
              <a:rPr lang="en-US" sz="2200" dirty="0">
                <a:solidFill>
                  <a:schemeClr val="tx1"/>
                </a:solidFill>
              </a:rPr>
              <a:t>The technology trends identified are driven by professional business needs and "enterprise-grade" requirements.</a:t>
            </a:r>
          </a:p>
          <a:p>
            <a:pPr>
              <a:lnSpc>
                <a:spcPct val="120000"/>
              </a:lnSpc>
            </a:pPr>
            <a:endParaRPr lang="en-US" sz="2200" dirty="0">
              <a:solidFill>
                <a:schemeClr val="tx1"/>
              </a:solidFill>
            </a:endParaRPr>
          </a:p>
          <a:p>
            <a:pPr>
              <a:lnSpc>
                <a:spcPct val="120000"/>
              </a:lnSpc>
            </a:pPr>
            <a:r>
              <a:rPr lang="en-US" sz="2200" b="1" dirty="0">
                <a:solidFill>
                  <a:schemeClr val="tx1"/>
                </a:solidFill>
              </a:rPr>
              <a:t>Implication 2 : </a:t>
            </a:r>
            <a:r>
              <a:rPr lang="en-US" sz="2200" dirty="0">
                <a:solidFill>
                  <a:schemeClr val="tx1"/>
                </a:solidFill>
              </a:rPr>
              <a:t>Organizations should prepare for a migration shift toward PostgreSQL as it becomes the preferred standard for new projects.</a:t>
            </a:r>
          </a:p>
          <a:p>
            <a:pPr>
              <a:lnSpc>
                <a:spcPct val="120000"/>
              </a:lnSpc>
            </a:pPr>
            <a:endParaRPr lang="en-US" sz="2200" dirty="0">
              <a:solidFill>
                <a:schemeClr val="tx1"/>
              </a:solidFill>
            </a:endParaRPr>
          </a:p>
          <a:p>
            <a:pPr>
              <a:lnSpc>
                <a:spcPct val="120000"/>
              </a:lnSpc>
            </a:pPr>
            <a:r>
              <a:rPr lang="en-US" sz="2200" b="1" dirty="0">
                <a:solidFill>
                  <a:schemeClr val="tx1"/>
                </a:solidFill>
              </a:rPr>
              <a:t>Implication 3 : </a:t>
            </a:r>
            <a:r>
              <a:rPr lang="en-US" sz="2200" dirty="0">
                <a:solidFill>
                  <a:schemeClr val="tx1"/>
                </a:solidFill>
              </a:rPr>
              <a:t>There is no need for a radical "language overhaul" in training; companies should double down on these core skills for long-term stability.</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2" name="Content Placeholder 2">
            <a:extLst>
              <a:ext uri="{FF2B5EF4-FFF2-40B4-BE49-F238E27FC236}">
                <a16:creationId xmlns:a16="http://schemas.microsoft.com/office/drawing/2014/main" id="{C4C42021-E2A6-60AE-47BD-83E9D4796801}"/>
              </a:ext>
            </a:extLst>
          </p:cNvPr>
          <p:cNvSpPr txBox="1">
            <a:spLocks/>
          </p:cNvSpPr>
          <p:nvPr/>
        </p:nvSpPr>
        <p:spPr>
          <a:xfrm>
            <a:off x="4603531" y="1690688"/>
            <a:ext cx="6462502" cy="400444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20000"/>
              </a:lnSpc>
            </a:pPr>
            <a:r>
              <a:rPr lang="en-US" sz="1600" b="1" dirty="0">
                <a:solidFill>
                  <a:schemeClr val="tx1"/>
                </a:solidFill>
              </a:rPr>
              <a:t>Professional Workforce: </a:t>
            </a:r>
            <a:r>
              <a:rPr lang="en-US" sz="1600" dirty="0">
                <a:solidFill>
                  <a:schemeClr val="tx1"/>
                </a:solidFill>
              </a:rPr>
              <a:t>The survey reflects a mature, highly educated developer community, with over 80% currently employed in full-time roles. </a:t>
            </a:r>
          </a:p>
          <a:p>
            <a:pPr>
              <a:lnSpc>
                <a:spcPct val="120000"/>
              </a:lnSpc>
            </a:pPr>
            <a:r>
              <a:rPr lang="en-US" sz="1600" b="1" dirty="0">
                <a:solidFill>
                  <a:schemeClr val="tx1"/>
                </a:solidFill>
              </a:rPr>
              <a:t>Infrastructure Evolution: </a:t>
            </a:r>
            <a:r>
              <a:rPr lang="en-US" sz="1600" dirty="0">
                <a:solidFill>
                  <a:schemeClr val="tx1"/>
                </a:solidFill>
              </a:rPr>
              <a:t>While programming languages remain stable, there is a clear and massive shift in interest toward PostgreSQL as the future database standard.</a:t>
            </a:r>
          </a:p>
          <a:p>
            <a:pPr>
              <a:lnSpc>
                <a:spcPct val="120000"/>
              </a:lnSpc>
            </a:pPr>
            <a:r>
              <a:rPr lang="en-US" sz="1600" b="1" dirty="0">
                <a:solidFill>
                  <a:schemeClr val="tx1"/>
                </a:solidFill>
              </a:rPr>
              <a:t>Core Language Loyalty: </a:t>
            </a:r>
            <a:r>
              <a:rPr lang="en-US" sz="1600" dirty="0">
                <a:solidFill>
                  <a:schemeClr val="tx1"/>
                </a:solidFill>
              </a:rPr>
              <a:t>Python, C#, and TypeScript continue to be the bedrock of development, showing that foundational skills remain the most valuable long-term assets.</a:t>
            </a:r>
          </a:p>
          <a:p>
            <a:pPr>
              <a:lnSpc>
                <a:spcPct val="120000"/>
              </a:lnSpc>
            </a:pPr>
            <a:r>
              <a:rPr lang="en-US" sz="1600" b="1" dirty="0">
                <a:solidFill>
                  <a:schemeClr val="tx1"/>
                </a:solidFill>
              </a:rPr>
              <a:t>Modernization Trend: </a:t>
            </a:r>
            <a:r>
              <a:rPr lang="en-US" sz="1600" dirty="0">
                <a:solidFill>
                  <a:schemeClr val="tx1"/>
                </a:solidFill>
              </a:rPr>
              <a:t>The industry is moving toward open-source and scalable solutions, indicating that businesses should prioritize upgrading their data infrastructure to stay competitive.</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1734</TotalTime>
  <Words>1475</Words>
  <Application>Microsoft Macintosh PowerPoint</Application>
  <PresentationFormat>Widescreen</PresentationFormat>
  <Paragraphs>125</Paragraphs>
  <Slides>19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Helv</vt:lpstr>
      <vt:lpstr>IBM Plex Mono</vt:lpstr>
      <vt:lpstr>IBM Plex Sans</vt:lpstr>
      <vt:lpstr>IBM Plex Sans SemiBold</vt:lpstr>
      <vt:lpstr>SLIDE_TEMPLATE_skill_network</vt:lpstr>
      <vt:lpstr>Analysis of Global  Technology Trends  and IT Job Market</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vt:lpstr>
      <vt:lpstr>DASHBOARD TAB 2</vt:lpstr>
      <vt:lpstr>DASHBOARD TAB 3</vt:lpstr>
      <vt:lpstr>DISCUSSION</vt:lpstr>
      <vt:lpstr>OVERALL FINDINGS &amp; IMPLICATIONS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Saghir, Haitham</cp:lastModifiedBy>
  <cp:revision>6</cp:revision>
  <dcterms:created xsi:type="dcterms:W3CDTF">2024-10-30T05:40:03Z</dcterms:created>
  <dcterms:modified xsi:type="dcterms:W3CDTF">2026-04-22T21:22:02Z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